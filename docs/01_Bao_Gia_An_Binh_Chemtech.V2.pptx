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b="36863" l="0" r="0" t="-2216"/>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cap="flat" cmpd="sng" w="12700">
            <a:solidFill>
              <a:srgbClr val="D5DEE6"/>
            </a:solidFill>
            <a:prstDash val="solid"/>
            <a:round/>
            <a:headEnd len="sm" w="sm" type="none"/>
            <a:tailEnd len="sm" w="sm" type="none"/>
          </a:ln>
        </p:spPr>
      </p:cxnSp>
      <p:cxnSp>
        <p:nvCxnSpPr>
          <p:cNvPr id="14" name="Google Shape;14;p1"/>
          <p:cNvCxnSpPr/>
          <p:nvPr/>
        </p:nvCxnSpPr>
        <p:spPr>
          <a:xfrm>
            <a:off x="530352" y="10122408"/>
            <a:ext cx="6446520" cy="0"/>
          </a:xfrm>
          <a:prstGeom prst="straightConnector1">
            <a:avLst/>
          </a:prstGeom>
          <a:noFill/>
          <a:ln cap="flat" cmpd="sng" w="12700">
            <a:solidFill>
              <a:srgbClr val="E3E8ED"/>
            </a:solidFill>
            <a:prstDash val="solid"/>
            <a:round/>
            <a:headEnd len="sm" w="sm" type="none"/>
            <a:tailEnd len="sm" w="sm" type="none"/>
          </a:ln>
        </p:spPr>
      </p:cxnSp>
      <p:sp>
        <p:nvSpPr>
          <p:cNvPr id="15" name="Google Shape;15;p1"/>
          <p:cNvSpPr/>
          <p:nvPr/>
        </p:nvSpPr>
        <p:spPr>
          <a:xfrm>
            <a:off x="1508760" y="10168128"/>
            <a:ext cx="4480560"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
              <a:buFont typeface="Arial"/>
              <a:buNone/>
            </a:pPr>
            <a:r>
              <a:rPr b="0" i="0" lang="en-US" sz="720" u="none" cap="none" strike="noStrike">
                <a:solidFill>
                  <a:srgbClr val="7A8590"/>
                </a:solidFill>
                <a:latin typeface="Arial"/>
                <a:ea typeface="Arial"/>
                <a:cs typeface="Arial"/>
                <a:sym typeface="Arial"/>
              </a:rPr>
              <a:t>© 2026 An Binh Chemtech. All rights reserved.</a:t>
            </a:r>
            <a:endParaRPr b="0" i="0" sz="720" u="none" cap="none" strike="noStrike">
              <a:solidFill>
                <a:schemeClr val="dk1"/>
              </a:solidFill>
              <a:latin typeface="Arial"/>
              <a:ea typeface="Arial"/>
              <a:cs typeface="Arial"/>
              <a:sym typeface="Arial"/>
            </a:endParaRPr>
          </a:p>
        </p:txBody>
      </p:sp>
      <p:pic>
        <p:nvPicPr>
          <p:cNvPr descr="/mnt/data/bao_media/image1.png" id="16" name="Google Shape;16;p1"/>
          <p:cNvPicPr preferRelativeResize="0"/>
          <p:nvPr/>
        </p:nvPicPr>
        <p:blipFill rotWithShape="1">
          <a:blip r:embed="rId4">
            <a:alphaModFix/>
          </a:blip>
          <a:srcRect b="0" l="0" r="0" t="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cap="flat" cmpd="sng" w="9525">
            <a:solidFill>
              <a:srgbClr val="CAD6DD"/>
            </a:solidFill>
            <a:prstDash val="solid"/>
            <a:round/>
            <a:headEnd len="sm" w="sm" type="none"/>
            <a:tailEnd len="sm" w="sm" type="none"/>
          </a:ln>
        </p:spPr>
        <p:txBody>
          <a:bodyPr anchorCtr="0" anchor="ctr" bIns="1250" lIns="0" spcFirstLastPara="1" rIns="1250" wrap="square" tIns="1250">
            <a:normAutofit/>
          </a:bodyPr>
          <a:lstStyle/>
          <a:p>
            <a:pPr indent="0" lvl="0" marL="0" marR="0" rtl="0" algn="ctr">
              <a:lnSpc>
                <a:spcPct val="100000"/>
              </a:lnSpc>
              <a:spcBef>
                <a:spcPts val="0"/>
              </a:spcBef>
              <a:spcAft>
                <a:spcPts val="0"/>
              </a:spcAft>
              <a:buClr>
                <a:srgbClr val="1F3D5B"/>
              </a:buClr>
              <a:buSzPts val="1600"/>
              <a:buFont typeface="Arial"/>
              <a:buNone/>
            </a:pPr>
            <a:r>
              <a:rPr b="1" i="0" lang="en-US" sz="1600" u="none" cap="none" strike="noStrike">
                <a:solidFill>
                  <a:srgbClr val="1F3D5B"/>
                </a:solidFill>
                <a:latin typeface="Arial"/>
                <a:ea typeface="Arial"/>
                <a:cs typeface="Arial"/>
                <a:sym typeface="Arial"/>
              </a:rPr>
              <a:t>CÔNG TY TNHH AN BÌNH CHEMTECH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25313C"/>
              </a:buClr>
              <a:buSzPts val="1050"/>
              <a:buFont typeface="Arial"/>
              <a:buNone/>
            </a:pPr>
            <a:r>
              <a:rPr b="0" i="0" lang="en-US" sz="1050" u="none" cap="none" strike="noStrike">
                <a:solidFill>
                  <a:srgbClr val="25313C"/>
                </a:solidFill>
                <a:latin typeface="Arial"/>
                <a:ea typeface="Arial"/>
                <a:cs typeface="Arial"/>
                <a:sym typeface="Arial"/>
              </a:rPr>
              <a:t>Địa chỉ: 408/1 Nguyễn Thị Minh Khai, Phường Bàn Cờ, TP. Hồ Chí Minh, Việt Nam</a:t>
            </a:r>
            <a:br>
              <a:rPr b="0" i="0" lang="en-US" sz="1050" u="none" cap="none" strike="noStrike">
                <a:solidFill>
                  <a:srgbClr val="25313C"/>
                </a:solidFill>
                <a:latin typeface="Arial"/>
                <a:ea typeface="Arial"/>
                <a:cs typeface="Arial"/>
                <a:sym typeface="Arial"/>
              </a:rPr>
            </a:br>
            <a:r>
              <a:rPr b="0" i="0" lang="en-US" sz="1050" u="none" cap="none" strike="noStrike">
                <a:solidFill>
                  <a:srgbClr val="25313C"/>
                </a:solidFill>
                <a:latin typeface="Arial"/>
                <a:ea typeface="Arial"/>
                <a:cs typeface="Arial"/>
                <a:sym typeface="Arial"/>
              </a:rPr>
              <a:t>SĐT: 0382.184.100          Email: info@anbinhchem.com.vn</a:t>
            </a:r>
            <a:endParaRPr b="0" i="0" sz="1000" u="none" cap="none" strike="noStrik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1F3D5B"/>
                </a:solidFill>
                <a:latin typeface="Arial"/>
                <a:ea typeface="Arial"/>
                <a:cs typeface="Arial"/>
                <a:sym typeface="Arial"/>
              </a:rPr>
              <a:t>BẢNG BÁO GIÁ</a:t>
            </a:r>
            <a:endParaRPr b="0" i="0" sz="2400" u="none" cap="none" strike="noStrik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l">
              <a:lnSpc>
                <a:spcPct val="100000"/>
              </a:lnSpc>
              <a:spcBef>
                <a:spcPts val="0"/>
              </a:spcBef>
              <a:spcAft>
                <a:spcPts val="0"/>
              </a:spcAft>
              <a:buClr>
                <a:srgbClr val="1F3D5B"/>
              </a:buClr>
              <a:buSzPts val="1200"/>
              <a:buFont typeface="Arial"/>
              <a:buNone/>
            </a:pPr>
            <a:r>
              <a:rPr b="1" i="0" lang="en-US" sz="1200" u="none" cap="none" strike="noStrike">
                <a:solidFill>
                  <a:srgbClr val="1F3D5B"/>
                </a:solidFill>
                <a:latin typeface="Arial"/>
                <a:ea typeface="Arial"/>
                <a:cs typeface="Arial"/>
                <a:sym typeface="Arial"/>
              </a:rPr>
              <a:t>Kính gửi:</a:t>
            </a:r>
            <a:endParaRPr b="0" i="0" sz="1200" u="none" cap="none" strike="noStrik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cap="flat" cmpd="sng" w="9525">
            <a:solidFill>
              <a:srgbClr val="CAD6DD"/>
            </a:solidFill>
            <a:prstDash val="solid"/>
            <a:round/>
            <a:headEnd len="sm" w="sm" type="none"/>
            <a:tailEnd len="sm" w="sm" type="none"/>
          </a:ln>
        </p:spPr>
        <p:txBody>
          <a:bodyPr anchorCtr="0" anchor="ctr" bIns="1250" lIns="1250" spcFirstLastPara="1" rIns="1250" wrap="square" tIns="164575">
            <a:normAutofit/>
          </a:bodyPr>
          <a:lstStyle/>
          <a:p>
            <a:pPr indent="0" lvl="0" marL="0" marR="0" rtl="0" algn="l">
              <a:lnSpc>
                <a:spcPct val="100000"/>
              </a:lnSpc>
              <a:spcBef>
                <a:spcPts val="0"/>
              </a:spcBef>
              <a:spcAft>
                <a:spcPts val="0"/>
              </a:spcAft>
              <a:buNone/>
            </a:pPr>
            <a:r>
              <a:rPr b="0" i="0" lang="en-US" sz="1000" u="none" cap="none" strike="noStrike">
                <a:solidFill>
                  <a:schemeClr val="dk1"/>
                </a:solidFill>
                <a:latin typeface="Arial"/>
                <a:ea typeface="Arial"/>
                <a:cs typeface="Arial"/>
                <a:sym typeface="Arial"/>
              </a:rPr>
              <a:t>  Quý khách hàng / Quý đối tác: </a:t>
            </a:r>
            <a:r>
              <a:rPr b="0" i="0" lang="en-US" sz="1000" u="none" cap="none" strike="noStrike">
                <a:solidFill>
                  <a:srgbClr val="000000"/>
                </a:solidFill>
                <a:latin typeface="Arial"/>
                <a:ea typeface="Arial"/>
                <a:cs typeface="Arial"/>
                <a:sym typeface="Arial"/>
              </a:rPr>
              <a:t>[…]</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l">
              <a:lnSpc>
                <a:spcPct val="100000"/>
              </a:lnSpc>
              <a:spcBef>
                <a:spcPts val="0"/>
              </a:spcBef>
              <a:spcAft>
                <a:spcPts val="0"/>
              </a:spcAft>
              <a:buClr>
                <a:srgbClr val="000000"/>
              </a:buClr>
              <a:buSzPts val="1050"/>
              <a:buFont typeface="Arial"/>
              <a:buNone/>
            </a:pPr>
            <a:r>
              <a:rPr b="0" i="0" lang="en-US" sz="1000" u="none" cap="none" strike="noStrik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b="0" i="0" sz="1000" u="none" cap="none" strike="noStrik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1" i="0" lang="en-US" sz="1600" u="none" cap="none" strike="noStrike">
                <a:solidFill>
                  <a:srgbClr val="0F4C5C"/>
                </a:solidFill>
                <a:latin typeface="Arial"/>
                <a:ea typeface="Arial"/>
                <a:cs typeface="Arial"/>
                <a:sym typeface="Arial"/>
              </a:rPr>
              <a:t>Danh mục sản phẩm &amp; đơn giá</a:t>
            </a:r>
            <a:endParaRPr b="0" i="0" sz="1600" u="none" cap="none" strike="noStrik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STT</a:t>
            </a:r>
            <a:endParaRPr b="0" i="0" sz="1020" u="none" cap="none" strike="noStrik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Tên hàng</a:t>
            </a:r>
            <a:endParaRPr b="0" i="0" sz="1020" u="none" cap="none" strike="noStrik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None/>
            </a:pPr>
            <a:r>
              <a:rPr b="1" i="0" lang="en-US" sz="1020" u="none" cap="none" strike="noStrike">
                <a:solidFill>
                  <a:srgbClr val="FFFFFF"/>
                </a:solidFill>
                <a:latin typeface="Arial"/>
                <a:ea typeface="Arial"/>
                <a:cs typeface="Arial"/>
                <a:sym typeface="Arial"/>
              </a:rPr>
              <a:t>Đơn giá </a:t>
            </a:r>
            <a:endParaRPr b="1" i="0" sz="102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1" i="0" lang="en-US" sz="1020" u="none" cap="none" strike="noStrike">
                <a:solidFill>
                  <a:srgbClr val="FFFFFF"/>
                </a:solidFill>
                <a:latin typeface="Arial"/>
                <a:ea typeface="Arial"/>
                <a:cs typeface="Arial"/>
                <a:sym typeface="Arial"/>
              </a:rPr>
              <a:t>(chưa VAT)</a:t>
            </a:r>
            <a:endParaRPr b="0" i="0" sz="1020" u="none" cap="none" strike="noStrik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Đơn giá </a:t>
            </a:r>
            <a:endParaRPr b="1" i="0" sz="102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(Đã bao gồm VAT)</a:t>
            </a:r>
            <a:endParaRPr b="0" i="0" sz="1020" u="none" cap="none" strike="noStrik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1</a:t>
            </a:r>
            <a:endParaRPr b="1" i="0" sz="1040" u="none" cap="none" strike="noStrik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91425" spcFirstLastPara="1" rIns="750" wrap="square" tIns="750">
            <a:normAutofit/>
          </a:bodyPr>
          <a:lstStyle/>
          <a:p>
            <a:pPr indent="0" lvl="0" marL="0" marR="0" rtl="0" algn="l">
              <a:lnSpc>
                <a:spcPct val="100000"/>
              </a:lnSpc>
              <a:spcBef>
                <a:spcPts val="0"/>
              </a:spcBef>
              <a:spcAft>
                <a:spcPts val="0"/>
              </a:spcAft>
              <a:buNone/>
            </a:pPr>
            <a:r>
              <a:rPr b="1" i="0" lang="en-US" sz="1200" u="none" cap="none" strike="noStrike">
                <a:solidFill>
                  <a:schemeClr val="dk1"/>
                </a:solidFill>
                <a:latin typeface="Arial"/>
                <a:ea typeface="Arial"/>
                <a:cs typeface="Arial"/>
                <a:sym typeface="Arial"/>
              </a:rPr>
              <a:t>[Tetrasodium Pyrophosphate (TSPP)]</a:t>
            </a:r>
            <a:endParaRPr b="1" i="0" sz="1200" u="none" cap="none" strike="noStrik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50" u="none" cap="none" strike="noStrike">
                <a:solidFill>
                  <a:schemeClr val="dk1"/>
                </a:solidFill>
                <a:latin typeface="Arial"/>
                <a:ea typeface="Arial"/>
                <a:cs typeface="Arial"/>
                <a:sym typeface="Arial"/>
              </a:rPr>
              <a:t>[51,560]</a:t>
            </a:r>
            <a:endParaRPr b="0" i="0" sz="1040" u="none" cap="none" strike="noStrik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chemeClr val="dk1"/>
              </a:buClr>
              <a:buSzPts val="1040"/>
              <a:buFont typeface="Arial"/>
              <a:buNone/>
            </a:pPr>
            <a:r>
              <a:rPr b="1" i="0" lang="en-US" sz="1200" u="none" cap="none" strike="noStrike">
                <a:solidFill>
                  <a:schemeClr val="dk1"/>
                </a:solidFill>
                <a:latin typeface="Arial"/>
                <a:ea typeface="Arial"/>
                <a:cs typeface="Arial"/>
                <a:sym typeface="Arial"/>
              </a:rPr>
              <a:t>[51,560]</a:t>
            </a:r>
            <a:endParaRPr b="1" i="0" sz="1200" u="none" cap="none" strike="noStrik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2</a:t>
            </a:r>
            <a:endParaRPr b="1" i="0" sz="1040" u="none" cap="none" strike="noStrik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91425" spcFirstLastPara="1" rIns="750" wrap="square" tIns="750">
            <a:normAutofit/>
          </a:bodyPr>
          <a:lstStyle/>
          <a:p>
            <a:pPr indent="0" lvl="0" marL="0" marR="0" rtl="0" algn="l">
              <a:lnSpc>
                <a:spcPct val="100000"/>
              </a:lnSpc>
              <a:spcBef>
                <a:spcPts val="0"/>
              </a:spcBef>
              <a:spcAft>
                <a:spcPts val="0"/>
              </a:spcAft>
              <a:buNone/>
            </a:pPr>
            <a:r>
              <a:rPr b="1" i="0" lang="en-US" sz="1200" u="none" cap="none" strike="noStrike">
                <a:solidFill>
                  <a:schemeClr val="dk1"/>
                </a:solidFill>
                <a:latin typeface="Arial"/>
                <a:ea typeface="Arial"/>
                <a:cs typeface="Arial"/>
                <a:sym typeface="Arial"/>
              </a:rPr>
              <a:t>[Sodium Tripolyphosphate (STPP)]</a:t>
            </a:r>
            <a:endParaRPr b="1" i="0" sz="1200" u="none" cap="none" strike="noStrik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50" u="none" cap="none" strike="noStrike">
                <a:solidFill>
                  <a:schemeClr val="dk1"/>
                </a:solidFill>
                <a:latin typeface="Arial"/>
                <a:ea typeface="Arial"/>
                <a:cs typeface="Arial"/>
                <a:sym typeface="Arial"/>
              </a:rPr>
              <a:t>[51,560]</a:t>
            </a:r>
            <a:endParaRPr b="0" i="0" sz="1040" u="none" cap="none" strike="noStrik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chemeClr val="dk1"/>
              </a:buClr>
              <a:buSzPts val="1040"/>
              <a:buFont typeface="Arial"/>
              <a:buNone/>
            </a:pPr>
            <a:r>
              <a:rPr b="1" i="0" lang="en-US" sz="1200" u="none" cap="none" strike="noStrike">
                <a:solidFill>
                  <a:srgbClr val="000000"/>
                </a:solidFill>
                <a:latin typeface="Arial"/>
                <a:ea typeface="Arial"/>
                <a:cs typeface="Arial"/>
                <a:sym typeface="Arial"/>
              </a:rPr>
              <a:t>[51,560]</a:t>
            </a:r>
            <a:endParaRPr b="1" i="0" sz="1200" u="none" cap="none" strike="noStrik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3</a:t>
            </a:r>
            <a:endParaRPr b="1" i="0" sz="1040" u="none" cap="none" strike="noStrik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91425" spcFirstLastPara="1" rIns="750" wrap="square" tIns="750">
            <a:normAutofit/>
          </a:bodyPr>
          <a:lstStyle/>
          <a:p>
            <a:pPr indent="0" lvl="0" marL="0" marR="0" rtl="0" algn="l">
              <a:lnSpc>
                <a:spcPct val="100000"/>
              </a:lnSpc>
              <a:spcBef>
                <a:spcPts val="0"/>
              </a:spcBef>
              <a:spcAft>
                <a:spcPts val="0"/>
              </a:spcAft>
              <a:buNone/>
            </a:pPr>
            <a:r>
              <a:rPr b="1" i="0" lang="en-US" sz="1200" u="none" cap="none" strike="noStrike">
                <a:solidFill>
                  <a:schemeClr val="dk1"/>
                </a:solidFill>
                <a:latin typeface="Arial"/>
                <a:ea typeface="Arial"/>
                <a:cs typeface="Arial"/>
                <a:sym typeface="Arial"/>
              </a:rPr>
              <a:t>[Sodium Hexametaphosphate (SHMP)]</a:t>
            </a:r>
            <a:endParaRPr b="1" i="0" sz="1200" u="none" cap="none" strike="noStrik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50" u="none" cap="none" strike="noStrike">
                <a:solidFill>
                  <a:schemeClr val="dk1"/>
                </a:solidFill>
                <a:latin typeface="Arial"/>
                <a:ea typeface="Arial"/>
                <a:cs typeface="Arial"/>
                <a:sym typeface="Arial"/>
              </a:rPr>
              <a:t>[51,560]</a:t>
            </a:r>
            <a:endParaRPr b="0" i="0" sz="1040" u="none" cap="none" strike="noStrik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chemeClr val="dk1"/>
              </a:buClr>
              <a:buSzPts val="1040"/>
              <a:buFont typeface="Arial"/>
              <a:buNone/>
            </a:pPr>
            <a:r>
              <a:rPr b="1" i="0" lang="en-US" sz="1200" u="none" cap="none" strike="noStrike">
                <a:solidFill>
                  <a:schemeClr val="dk1"/>
                </a:solidFill>
                <a:latin typeface="Arial"/>
                <a:ea typeface="Arial"/>
                <a:cs typeface="Arial"/>
                <a:sym typeface="Arial"/>
              </a:rPr>
              <a:t>[58,519]</a:t>
            </a:r>
            <a:endParaRPr b="1" i="0" sz="1200" u="none" cap="none" strike="noStrik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1" i="0" lang="en-US" sz="1600" u="none" cap="none" strike="noStrike">
                <a:solidFill>
                  <a:srgbClr val="0F4C5C"/>
                </a:solidFill>
                <a:latin typeface="Arial"/>
                <a:ea typeface="Arial"/>
                <a:cs typeface="Arial"/>
                <a:sym typeface="Arial"/>
              </a:rPr>
              <a:t>Các điều khoản &amp; chính sách thương mại</a:t>
            </a:r>
            <a:endParaRPr b="0" i="0" sz="1600" u="none" cap="none" strike="noStrik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l">
              <a:lnSpc>
                <a:spcPct val="100000"/>
              </a:lnSpc>
              <a:spcBef>
                <a:spcPts val="0"/>
              </a:spcBef>
              <a:spcAft>
                <a:spcPts val="0"/>
              </a:spcAft>
              <a:buClr>
                <a:srgbClr val="000000"/>
              </a:buClr>
              <a:buSzPts val="1070"/>
              <a:buFont typeface="Arial"/>
              <a:buNone/>
            </a:pPr>
            <a:r>
              <a:rPr b="1" i="0" lang="en-US" sz="1070" u="none" cap="none" strike="noStrike">
                <a:solidFill>
                  <a:srgbClr val="1F3D5B"/>
                </a:solidFill>
                <a:latin typeface="Arial"/>
                <a:ea typeface="Arial"/>
                <a:cs typeface="Arial"/>
                <a:sym typeface="Arial"/>
              </a:rPr>
              <a:t>Để đảm bảo quyền lợi tốt nhất cho Quý khách, An Bình áp dụng các chính sách sau:</a:t>
            </a:r>
            <a:endParaRPr b="1" i="0" sz="1000" u="none" cap="none" strike="noStrik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cap="flat" cmpd="sng" w="9525">
            <a:solidFill>
              <a:schemeClr val="accent6"/>
            </a:solidFill>
            <a:prstDash val="solid"/>
            <a:round/>
            <a:headEnd len="sm" w="sm" type="none"/>
            <a:tailEnd len="sm" w="sm" type="none"/>
          </a:ln>
        </p:spPr>
        <p:txBody>
          <a:bodyPr anchorCtr="0" anchor="t" bIns="1250" lIns="91425" spcFirstLastPara="1" rIns="45700" wrap="square" tIns="109725">
            <a:normAutofit/>
          </a:bodyPr>
          <a:lstStyle/>
          <a:p>
            <a:pPr indent="-114300" lvl="0" marL="114300" marR="0" rtl="0" algn="l">
              <a:lnSpc>
                <a:spcPct val="10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Giá trị trọn gói: </a:t>
            </a:r>
            <a:r>
              <a:rPr b="0" i="0" lang="en-US" sz="1100" u="none" cap="none" strike="noStrik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b="0" i="0" sz="1100" u="none" cap="none" strike="noStrike">
              <a:solidFill>
                <a:srgbClr val="000000"/>
              </a:solidFill>
              <a:latin typeface="Arial"/>
              <a:ea typeface="Arial"/>
              <a:cs typeface="Arial"/>
              <a:sym typeface="Arial"/>
            </a:endParaRPr>
          </a:p>
          <a:p>
            <a:pPr indent="-114300" lvl="0" marL="114300" marR="0" rtl="0" algn="l">
              <a:lnSpc>
                <a:spcPct val="15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Hiệu lực: </a:t>
            </a:r>
            <a:r>
              <a:rPr b="0" i="0" lang="en-US" sz="1100" u="none" cap="none" strike="noStrike">
                <a:solidFill>
                  <a:srgbClr val="25313C"/>
                </a:solidFill>
                <a:latin typeface="Arial"/>
                <a:ea typeface="Arial"/>
                <a:cs typeface="Arial"/>
                <a:sym typeface="Arial"/>
              </a:rPr>
              <a:t>Báo giá có giá trị trong vòng 01 ngày kể từ ngày gửi.</a:t>
            </a:r>
            <a:endParaRPr b="0" i="0" sz="1100" u="none" cap="none" strike="noStrike">
              <a:solidFill>
                <a:srgbClr val="000000"/>
              </a:solidFill>
              <a:latin typeface="Arial"/>
              <a:ea typeface="Arial"/>
              <a:cs typeface="Arial"/>
              <a:sym typeface="Arial"/>
            </a:endParaRPr>
          </a:p>
          <a:p>
            <a:pPr indent="-114300" lvl="0" marL="114300" marR="0" rtl="0" algn="l">
              <a:lnSpc>
                <a:spcPct val="10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Chính sách giá: </a:t>
            </a:r>
            <a:r>
              <a:rPr b="0" i="0" lang="en-US" sz="1100" u="none" cap="none" strike="noStrik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b="0" i="0" sz="1100" u="none" cap="none" strike="noStrike">
              <a:solidFill>
                <a:srgbClr val="000000"/>
              </a:solidFill>
              <a:latin typeface="Arial"/>
              <a:ea typeface="Arial"/>
              <a:cs typeface="Arial"/>
              <a:sym typeface="Arial"/>
            </a:endParaRPr>
          </a:p>
          <a:p>
            <a:pPr indent="-114300" lvl="0" marL="114300" marR="0" rtl="0" algn="l">
              <a:lnSpc>
                <a:spcPct val="100000"/>
              </a:lnSpc>
              <a:spcBef>
                <a:spcPts val="220"/>
              </a:spcBef>
              <a:spcAft>
                <a:spcPts val="0"/>
              </a:spcAft>
              <a:buClr>
                <a:srgbClr val="25313C"/>
              </a:buClr>
              <a:buSzPts val="970"/>
              <a:buFont typeface="Arial"/>
              <a:buChar char="•"/>
            </a:pPr>
            <a:r>
              <a:rPr b="1" i="0" lang="en-US" sz="1100" u="none" cap="none" strike="noStrike">
                <a:solidFill>
                  <a:srgbClr val="25313C"/>
                </a:solidFill>
                <a:latin typeface="Arial"/>
                <a:ea typeface="Arial"/>
                <a:cs typeface="Arial"/>
                <a:sym typeface="Arial"/>
              </a:rPr>
              <a:t>Chính sách vận chuyển: </a:t>
            </a:r>
            <a:r>
              <a:rPr b="0" i="0" lang="en-US" sz="1100" u="none" cap="none" strike="noStrike">
                <a:solidFill>
                  <a:srgbClr val="25313C"/>
                </a:solidFill>
                <a:latin typeface="Arial"/>
                <a:ea typeface="Arial"/>
                <a:cs typeface="Arial"/>
                <a:sym typeface="Arial"/>
              </a:rPr>
              <a:t>Giao hàng tận nơi theo địa chỉ chỉ định; chi phí giao hàng đã bao gồm trong đơn giá.</a:t>
            </a:r>
            <a:endParaRPr b="0" i="0" sz="1100" u="none" cap="none" strike="noStrike">
              <a:solidFill>
                <a:srgbClr val="000000"/>
              </a:solidFill>
              <a:latin typeface="Arial"/>
              <a:ea typeface="Arial"/>
              <a:cs typeface="Arial"/>
              <a:sym typeface="Arial"/>
            </a:endParaRPr>
          </a:p>
          <a:p>
            <a:pPr indent="-114300" lvl="0" marL="114300" marR="0" rtl="0" algn="l">
              <a:lnSpc>
                <a:spcPct val="100000"/>
              </a:lnSpc>
              <a:spcBef>
                <a:spcPts val="220"/>
              </a:spcBef>
              <a:spcAft>
                <a:spcPts val="0"/>
              </a:spcAft>
              <a:buClr>
                <a:schemeClr val="dk1"/>
              </a:buClr>
              <a:buSzPts val="970"/>
              <a:buFont typeface="Arial"/>
              <a:buChar char="•"/>
            </a:pPr>
            <a:r>
              <a:rPr b="1" i="0" lang="en-US" sz="1100" u="none" cap="none" strike="noStrike">
                <a:solidFill>
                  <a:schemeClr val="dk1"/>
                </a:solidFill>
                <a:latin typeface="Arial"/>
                <a:ea typeface="Arial"/>
                <a:cs typeface="Arial"/>
                <a:sym typeface="Arial"/>
              </a:rPr>
              <a:t>Phương thức thanh toán:</a:t>
            </a:r>
            <a:r>
              <a:rPr b="0" i="0" lang="en-US" sz="1100" u="none" cap="none" strike="noStrike">
                <a:solidFill>
                  <a:schemeClr val="dk1"/>
                </a:solidFill>
                <a:latin typeface="Arial"/>
                <a:ea typeface="Arial"/>
                <a:cs typeface="Arial"/>
                <a:sym typeface="Arial"/>
              </a:rPr>
              <a:t> Thanh toán 30% trước khi xuất kho và 70% còn lại sau khi hoàn tất nghiệm thu và nhận hàng.</a:t>
            </a:r>
            <a:endParaRPr b="0" i="0" sz="1100" u="none" cap="none" strike="noStrik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Ngày […] tháng […] năm 2026</a:t>
            </a:r>
            <a:endParaRPr b="0" i="0" sz="1040" u="none" cap="none" strike="noStrik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000" lIns="1000" spcFirstLastPara="1" rIns="1000" wrap="square" tIns="1000">
            <a:normAutofit/>
          </a:bodyPr>
          <a:lstStyle/>
          <a:p>
            <a:pPr indent="0" lvl="0" marL="0" marR="0" rtl="0" algn="ctr">
              <a:lnSpc>
                <a:spcPct val="100000"/>
              </a:lnSpc>
              <a:spcBef>
                <a:spcPts val="0"/>
              </a:spcBef>
              <a:spcAft>
                <a:spcPts val="0"/>
              </a:spcAft>
              <a:buClr>
                <a:srgbClr val="1F3D5B"/>
              </a:buClr>
              <a:buSzPts val="1120"/>
              <a:buFont typeface="Arial"/>
              <a:buNone/>
            </a:pPr>
            <a:r>
              <a:rPr b="1" i="0" lang="en-US" sz="1120" u="none" cap="none" strike="noStrike">
                <a:solidFill>
                  <a:srgbClr val="1F3D5B"/>
                </a:solidFill>
                <a:latin typeface="Arial"/>
                <a:ea typeface="Arial"/>
                <a:cs typeface="Arial"/>
                <a:sym typeface="Arial"/>
              </a:rPr>
              <a:t>CÔNG TY TNHH</a:t>
            </a:r>
            <a:endParaRPr b="0" i="0" sz="112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1F3D5B"/>
              </a:buClr>
              <a:buSzPts val="1120"/>
              <a:buFont typeface="Arial"/>
              <a:buNone/>
            </a:pPr>
            <a:r>
              <a:rPr b="1" i="0" lang="en-US" sz="1120" u="none" cap="none" strike="noStrike">
                <a:solidFill>
                  <a:srgbClr val="1F3D5B"/>
                </a:solidFill>
                <a:latin typeface="Arial"/>
                <a:ea typeface="Arial"/>
                <a:cs typeface="Arial"/>
                <a:sym typeface="Arial"/>
              </a:rPr>
              <a:t>AN BÌNH CHEMTECH</a:t>
            </a:r>
            <a:endParaRPr b="0" i="0" sz="1120" u="none" cap="none" strike="noStrike">
              <a:solidFill>
                <a:schemeClr val="dk1"/>
              </a:solidFill>
              <a:latin typeface="Arial"/>
              <a:ea typeface="Arial"/>
              <a:cs typeface="Arial"/>
              <a:sym typeface="Arial"/>
            </a:endParaRPr>
          </a:p>
        </p:txBody>
      </p:sp>
      <p:pic>
        <p:nvPicPr>
          <p:cNvPr descr="/mnt/data/bao_media/image2.png" id="44" name="Google Shape;44;p1"/>
          <p:cNvPicPr preferRelativeResize="0"/>
          <p:nvPr/>
        </p:nvPicPr>
        <p:blipFill rotWithShape="1">
          <a:blip r:embed="rId5">
            <a:alphaModFix/>
          </a:blip>
          <a:srcRect b="0" l="0" r="0" t="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cap="flat" cmpd="sng" w="9525">
            <a:solidFill>
              <a:srgbClr val="CAD6DD"/>
            </a:solidFill>
            <a:prstDash val="solid"/>
            <a:round/>
            <a:headEnd len="sm" w="sm" type="none"/>
            <a:tailEnd len="sm" w="sm" type="none"/>
          </a:ln>
        </p:spPr>
        <p:txBody>
          <a:bodyPr anchorCtr="0" anchor="ctr" bIns="1250" lIns="91425" spcFirstLastPara="1" rIns="1250" wrap="square" tIns="1250">
            <a:normAutofit/>
          </a:bodyPr>
          <a:lstStyle/>
          <a:p>
            <a:pPr indent="0" lvl="0" marL="0" marR="0" rtl="0" algn="ctr">
              <a:lnSpc>
                <a:spcPct val="100000"/>
              </a:lnSpc>
              <a:spcBef>
                <a:spcPts val="0"/>
              </a:spcBef>
              <a:spcAft>
                <a:spcPts val="0"/>
              </a:spcAft>
              <a:buClr>
                <a:srgbClr val="000000"/>
              </a:buClr>
              <a:buSzPts val="1070"/>
              <a:buFont typeface="Arial"/>
              <a:buNone/>
            </a:pPr>
            <a:r>
              <a:rPr b="0" i="0" lang="en-US" sz="1070" u="none" cap="none" strike="noStrik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b="0" i="0" sz="1000" u="none" cap="none" strike="noStrik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245F80"/>
                </a:solidFill>
                <a:latin typeface="Arial"/>
                <a:ea typeface="Arial"/>
                <a:cs typeface="Arial"/>
                <a:sym typeface="Arial"/>
              </a:rPr>
              <a:t>ABC-[]/QT/[2606]/[01]</a:t>
            </a:r>
            <a:endParaRPr b="0" i="0" sz="1250" u="none" cap="none" strike="noStrik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1F3D5B"/>
                </a:solidFill>
                <a:latin typeface="Arial"/>
                <a:ea typeface="Arial"/>
                <a:cs typeface="Arial"/>
                <a:sym typeface="Arial"/>
              </a:rPr>
              <a:t>An Bình Chemtech - Đối tác tin cậy cho giải pháp phụ gia thực phẩm</a:t>
            </a:r>
            <a:endParaRPr b="0" i="0" sz="1000" u="none" cap="none" strike="noStrik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cap="flat" cmpd="sng" w="9525">
            <a:solidFill>
              <a:srgbClr val="CAD6DD"/>
            </a:solidFill>
            <a:prstDash val="solid"/>
            <a:round/>
            <a:headEnd len="sm" w="sm" type="none"/>
            <a:tailEnd len="sm" w="sm" type="none"/>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Quy cách</a:t>
            </a:r>
            <a:endParaRPr b="0" i="0" sz="102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020"/>
              <a:buFont typeface="Arial"/>
              <a:buNone/>
            </a:pPr>
            <a:r>
              <a:rPr b="1" i="0" lang="en-US" sz="1020" u="none" cap="none" strike="noStrike">
                <a:solidFill>
                  <a:srgbClr val="FFFFFF"/>
                </a:solidFill>
                <a:latin typeface="Arial"/>
                <a:ea typeface="Arial"/>
                <a:cs typeface="Arial"/>
                <a:sym typeface="Arial"/>
              </a:rPr>
              <a:t>(kg/bao)</a:t>
            </a:r>
            <a:endParaRPr b="0" i="0" sz="1020" u="none" cap="none" strike="noStrik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Clr>
                <a:srgbClr val="25313C"/>
              </a:buClr>
              <a:buSzPts val="1040"/>
              <a:buFont typeface="Arial"/>
              <a:buNone/>
            </a:pPr>
            <a:r>
              <a:rPr b="1" i="0" lang="en-US" sz="1040" u="none" cap="none" strike="noStrike">
                <a:solidFill>
                  <a:srgbClr val="25313C"/>
                </a:solidFill>
                <a:latin typeface="Arial"/>
                <a:ea typeface="Arial"/>
                <a:cs typeface="Arial"/>
                <a:sym typeface="Arial"/>
              </a:rPr>
              <a:t>25</a:t>
            </a:r>
            <a:endParaRPr b="1" i="0" sz="1040" u="none" cap="none" strike="noStrik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40" u="none" cap="none" strike="noStrike">
                <a:solidFill>
                  <a:srgbClr val="25313C"/>
                </a:solidFill>
                <a:latin typeface="Arial"/>
                <a:ea typeface="Arial"/>
                <a:cs typeface="Arial"/>
                <a:sym typeface="Arial"/>
              </a:rPr>
              <a:t>25</a:t>
            </a:r>
            <a:endParaRPr b="1" i="0" sz="1040" u="none" cap="none" strike="noStrik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cap="flat" cmpd="sng" w="9525">
            <a:solidFill>
              <a:srgbClr val="CAD6DD"/>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lnSpc>
                <a:spcPct val="100000"/>
              </a:lnSpc>
              <a:spcBef>
                <a:spcPts val="0"/>
              </a:spcBef>
              <a:spcAft>
                <a:spcPts val="0"/>
              </a:spcAft>
              <a:buNone/>
            </a:pPr>
            <a:r>
              <a:rPr b="1" i="0" lang="en-US" sz="1040" u="none" cap="none" strike="noStrike">
                <a:solidFill>
                  <a:srgbClr val="25313C"/>
                </a:solidFill>
                <a:latin typeface="Arial"/>
                <a:ea typeface="Arial"/>
                <a:cs typeface="Arial"/>
                <a:sym typeface="Arial"/>
              </a:rPr>
              <a:t>25</a:t>
            </a:r>
            <a:endParaRPr b="1" i="0" sz="104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