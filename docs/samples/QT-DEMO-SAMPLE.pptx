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10688625" cx="7562850"/>
  <p:notesSz cx="10688625" cy="75628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6">
          <p15:clr>
            <a:srgbClr val="A4A3A4"/>
          </p15:clr>
        </p15:guide>
        <p15:guide id="2" pos="2382">
          <p15:clr>
            <a:srgbClr val="A4A3A4"/>
          </p15:clr>
        </p15:guide>
      </p15:sldGuideLst>
    </p:ext>
    <p:ext uri="GoogleSlidesCustomDataVersion2">
      <go:slidesCustomData xmlns:go="http://customooxmlschemas.google.com/" r:id="rId7" roundtripDataSignature="AMtx7mhZ2t1/qFEZG1YtLRGqXKWdZX9x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6" orient="horz"/>
        <p:guide pos="238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781775" y="567200"/>
            <a:ext cx="7126100"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068850" y="3592350"/>
            <a:ext cx="8550900" cy="34032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438150" y="0"/>
            <a:ext cx="2124075"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Calibri"/>
                <a:ea typeface="Calibri"/>
                <a:cs typeface="Calibri"/>
                <a:sym typeface="Calibri"/>
              </a:rPr>
              <a:t>[Sources]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User-uploaded document: Báo giá.docx</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Embedded logo and stamp extracted from the same uploaded document.</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 name="Shape 11"/>
        <p:cNvGrpSpPr/>
        <p:nvPr/>
      </p:nvGrpSpPr>
      <p:grpSpPr>
        <a:xfrm>
          <a:off x="0" y="0"/>
          <a:ext cx="0" cy="0"/>
          <a:chOff x="0" y="0"/>
          <a:chExt cx="0" cy="0"/>
        </a:xfrm>
      </p:grpSpPr>
      <p:pic>
        <p:nvPicPr>
          <p:cNvPr id="12" name="Google Shape;12;p1"/>
          <p:cNvPicPr preferRelativeResize="0"/>
          <p:nvPr/>
        </p:nvPicPr>
        <p:blipFill rotWithShape="1">
          <a:blip r:embed="rId3">
            <a:alphaModFix amt="5000"/>
          </a:blip>
          <a:srcRect b="36863" l="0" r="0" t="-2216"/>
          <a:stretch/>
        </p:blipFill>
        <p:spPr>
          <a:xfrm>
            <a:off x="445007" y="2755044"/>
            <a:ext cx="6781800" cy="4252998"/>
          </a:xfrm>
          <a:prstGeom prst="rect">
            <a:avLst/>
          </a:prstGeom>
          <a:noFill/>
          <a:ln>
            <a:noFill/>
          </a:ln>
        </p:spPr>
      </p:pic>
      <p:cxnSp>
        <p:nvCxnSpPr>
          <p:cNvPr id="13" name="Google Shape;13;p1"/>
          <p:cNvCxnSpPr/>
          <p:nvPr/>
        </p:nvCxnSpPr>
        <p:spPr>
          <a:xfrm>
            <a:off x="530352" y="475488"/>
            <a:ext cx="6446520" cy="0"/>
          </a:xfrm>
          <a:prstGeom prst="straightConnector1">
            <a:avLst/>
          </a:prstGeom>
          <a:noFill/>
          <a:ln cap="flat" cmpd="sng" w="12700">
            <a:solidFill>
              <a:srgbClr val="D5DEE6"/>
            </a:solidFill>
            <a:prstDash val="solid"/>
            <a:round/>
            <a:headEnd len="sm" w="sm" type="none"/>
            <a:tailEnd len="sm" w="sm" type="none"/>
          </a:ln>
        </p:spPr>
      </p:cxnSp>
      <p:cxnSp>
        <p:nvCxnSpPr>
          <p:cNvPr id="14" name="Google Shape;14;p1"/>
          <p:cNvCxnSpPr/>
          <p:nvPr/>
        </p:nvCxnSpPr>
        <p:spPr>
          <a:xfrm>
            <a:off x="530352" y="10122408"/>
            <a:ext cx="6446520" cy="0"/>
          </a:xfrm>
          <a:prstGeom prst="straightConnector1">
            <a:avLst/>
          </a:prstGeom>
          <a:noFill/>
          <a:ln cap="flat" cmpd="sng" w="12700">
            <a:solidFill>
              <a:srgbClr val="E3E8ED"/>
            </a:solidFill>
            <a:prstDash val="solid"/>
            <a:round/>
            <a:headEnd len="sm" w="sm" type="none"/>
            <a:tailEnd len="sm" w="sm" type="none"/>
          </a:ln>
        </p:spPr>
      </p:cxnSp>
      <p:sp>
        <p:nvSpPr>
          <p:cNvPr id="15" name="Google Shape;15;p1"/>
          <p:cNvSpPr/>
          <p:nvPr/>
        </p:nvSpPr>
        <p:spPr>
          <a:xfrm>
            <a:off x="1508760" y="10168128"/>
            <a:ext cx="4480560" cy="14630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20"/>
              <a:buFont typeface="Arial"/>
              <a:buNone/>
            </a:pPr>
            <a:r>
              <a:rPr b="0" i="0" lang="en-US" sz="720" u="none" cap="none" strike="noStrike">
                <a:solidFill>
                  <a:srgbClr val="7A8590"/>
                </a:solidFill>
                <a:latin typeface="Arial"/>
                <a:ea typeface="Arial"/>
                <a:cs typeface="Arial"/>
                <a:sym typeface="Arial"/>
              </a:rPr>
              <a:t>© 2026 An Binh Chemtech. All rights reserved.</a:t>
            </a:r>
            <a:endParaRPr b="0" i="0" sz="720" u="none" cap="none" strike="noStrike">
              <a:solidFill>
                <a:schemeClr val="dk1"/>
              </a:solidFill>
              <a:latin typeface="Arial"/>
              <a:ea typeface="Arial"/>
              <a:cs typeface="Arial"/>
              <a:sym typeface="Arial"/>
            </a:endParaRPr>
          </a:p>
        </p:txBody>
      </p:sp>
      <p:pic>
        <p:nvPicPr>
          <p:cNvPr descr="/mnt/data/bao_media/image1.png" id="16" name="Google Shape;16;p1"/>
          <p:cNvPicPr preferRelativeResize="0"/>
          <p:nvPr/>
        </p:nvPicPr>
        <p:blipFill rotWithShape="1">
          <a:blip r:embed="rId4">
            <a:alphaModFix/>
          </a:blip>
          <a:srcRect b="0" l="0" r="0" t="0"/>
          <a:stretch/>
        </p:blipFill>
        <p:spPr>
          <a:xfrm>
            <a:off x="621792" y="579136"/>
            <a:ext cx="1097280" cy="1097280"/>
          </a:xfrm>
          <a:prstGeom prst="rect">
            <a:avLst/>
          </a:prstGeom>
          <a:noFill/>
          <a:ln>
            <a:noFill/>
          </a:ln>
        </p:spPr>
      </p:pic>
      <p:sp>
        <p:nvSpPr>
          <p:cNvPr id="17" name="Google Shape;17;p1"/>
          <p:cNvSpPr/>
          <p:nvPr/>
        </p:nvSpPr>
        <p:spPr>
          <a:xfrm>
            <a:off x="1938528" y="731520"/>
            <a:ext cx="5074920" cy="868680"/>
          </a:xfrm>
          <a:prstGeom prst="rect">
            <a:avLst/>
          </a:prstGeom>
          <a:solidFill>
            <a:srgbClr val="EEF2F5"/>
          </a:solidFill>
          <a:ln cap="flat" cmpd="sng" w="9525">
            <a:solidFill>
              <a:srgbClr val="CAD6DD"/>
            </a:solidFill>
            <a:prstDash val="solid"/>
            <a:round/>
            <a:headEnd len="sm" w="sm" type="none"/>
            <a:tailEnd len="sm" w="sm" type="none"/>
          </a:ln>
        </p:spPr>
        <p:txBody>
          <a:bodyPr anchorCtr="0" anchor="ctr" bIns="1250" lIns="0" spcFirstLastPara="1" rIns="1250" wrap="square" tIns="1250">
            <a:normAutofit/>
          </a:bodyPr>
          <a:lstStyle/>
          <a:p>
            <a:pPr indent="0" lvl="0" marL="0" marR="0" rtl="0" algn="ctr">
              <a:lnSpc>
                <a:spcPct val="100000"/>
              </a:lnSpc>
              <a:spcBef>
                <a:spcPts val="0"/>
              </a:spcBef>
              <a:spcAft>
                <a:spcPts val="0"/>
              </a:spcAft>
              <a:buClr>
                <a:srgbClr val="1F3D5B"/>
              </a:buClr>
              <a:buSzPts val="1600"/>
              <a:buFont typeface="Arial"/>
              <a:buNone/>
            </a:pPr>
            <a:r>
              <a:rPr b="1" i="0" lang="en-US" sz="1600" u="none" cap="none" strike="noStrike">
                <a:solidFill>
                  <a:srgbClr val="1F3D5B"/>
                </a:solidFill>
                <a:latin typeface="Arial"/>
                <a:ea typeface="Arial"/>
                <a:cs typeface="Arial"/>
                <a:sym typeface="Arial"/>
              </a:rPr>
              <a:t>CÔNG TY TNHH AN BÌNH CHEMTECH</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25313C"/>
              </a:buClr>
              <a:buSzPts val="1050"/>
              <a:buFont typeface="Arial"/>
              <a:buNone/>
            </a:pPr>
            <a:r>
              <a:rPr b="0" i="0" lang="en-US" sz="1050" u="none" cap="none" strike="noStrike">
                <a:solidFill>
                  <a:srgbClr val="25313C"/>
                </a:solidFill>
                <a:latin typeface="Arial"/>
                <a:ea typeface="Arial"/>
                <a:cs typeface="Arial"/>
                <a:sym typeface="Arial"/>
              </a:rPr>
              <a:t>Địa chỉ: 408/1 Nguyễn Thị Minh Khai, Phường Bàn Cờ, TP. Hồ Chí Minh, Việt Nam</a:t>
            </a:r>
            <a:br>
              <a:rPr b="0" i="0" lang="en-US" sz="1050" u="none" cap="none" strike="noStrike">
                <a:solidFill>
                  <a:srgbClr val="25313C"/>
                </a:solidFill>
                <a:latin typeface="Arial"/>
                <a:ea typeface="Arial"/>
                <a:cs typeface="Arial"/>
                <a:sym typeface="Arial"/>
              </a:rPr>
            </a:br>
            <a:r>
              <a:rPr b="0" i="0" lang="en-US" sz="1050" u="none" cap="none" strike="noStrike">
                <a:solidFill>
                  <a:srgbClr val="25313C"/>
                </a:solidFill>
                <a:latin typeface="Arial"/>
                <a:ea typeface="Arial"/>
                <a:cs typeface="Arial"/>
                <a:sym typeface="Arial"/>
              </a:rPr>
              <a:t>SĐT: 0382.184.100          Email: info@anbinhchem.com.vn</a:t>
            </a:r>
            <a:endParaRPr b="0" i="0" sz="1000" u="none" cap="none" strike="noStrike">
              <a:solidFill>
                <a:schemeClr val="dk1"/>
              </a:solidFill>
              <a:latin typeface="Arial"/>
              <a:ea typeface="Arial"/>
              <a:cs typeface="Arial"/>
              <a:sym typeface="Arial"/>
            </a:endParaRPr>
          </a:p>
        </p:txBody>
      </p:sp>
      <p:sp>
        <p:nvSpPr>
          <p:cNvPr id="18" name="Google Shape;18;p1"/>
          <p:cNvSpPr/>
          <p:nvPr/>
        </p:nvSpPr>
        <p:spPr>
          <a:xfrm>
            <a:off x="1349111" y="1752895"/>
            <a:ext cx="4973593"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1F3D5B"/>
                </a:solidFill>
                <a:latin typeface="Arial"/>
                <a:ea typeface="Arial"/>
                <a:cs typeface="Arial"/>
                <a:sym typeface="Arial"/>
              </a:rPr>
              <a:t>BẢNG BÁO GIÁ</a:t>
            </a:r>
            <a:endParaRPr b="0" i="0" sz="2400" u="none" cap="none" strike="noStrike">
              <a:solidFill>
                <a:schemeClr val="dk1"/>
              </a:solidFill>
              <a:latin typeface="Arial"/>
              <a:ea typeface="Arial"/>
              <a:cs typeface="Arial"/>
              <a:sym typeface="Arial"/>
            </a:endParaRPr>
          </a:p>
        </p:txBody>
      </p:sp>
      <p:sp>
        <p:nvSpPr>
          <p:cNvPr id="19" name="Google Shape;19;p1"/>
          <p:cNvSpPr/>
          <p:nvPr/>
        </p:nvSpPr>
        <p:spPr>
          <a:xfrm>
            <a:off x="621792" y="2542473"/>
            <a:ext cx="1005840" cy="322795"/>
          </a:xfrm>
          <a:prstGeom prst="rect">
            <a:avLst/>
          </a:prstGeom>
          <a:solidFill>
            <a:srgbClr val="EAF3F4"/>
          </a:solidFill>
          <a:ln cap="flat" cmpd="sng" w="9525">
            <a:solidFill>
              <a:srgbClr val="CAD6DD"/>
            </a:solidFill>
            <a:prstDash val="solid"/>
            <a:round/>
            <a:headEnd len="sm" w="sm" type="none"/>
            <a:tailEnd len="sm" w="sm" type="none"/>
          </a:ln>
        </p:spPr>
        <p:txBody>
          <a:bodyPr anchorCtr="0" anchor="ctr" bIns="1250" lIns="91425" spcFirstLastPara="1" rIns="1250" wrap="square" tIns="1250">
            <a:normAutofit/>
          </a:bodyPr>
          <a:lstStyle/>
          <a:p>
            <a:pPr indent="0" lvl="0" marL="0" marR="0" rtl="0" algn="l">
              <a:lnSpc>
                <a:spcPct val="100000"/>
              </a:lnSpc>
              <a:spcBef>
                <a:spcPts val="0"/>
              </a:spcBef>
              <a:spcAft>
                <a:spcPts val="0"/>
              </a:spcAft>
              <a:buClr>
                <a:srgbClr val="1F3D5B"/>
              </a:buClr>
              <a:buSzPts val="1200"/>
              <a:buFont typeface="Arial"/>
              <a:buNone/>
            </a:pPr>
            <a:r>
              <a:rPr b="1" i="0" lang="en-US" sz="1200" u="none" cap="none" strike="noStrike">
                <a:solidFill>
                  <a:srgbClr val="1F3D5B"/>
                </a:solidFill>
                <a:latin typeface="Arial"/>
                <a:ea typeface="Arial"/>
                <a:cs typeface="Arial"/>
                <a:sym typeface="Arial"/>
              </a:rPr>
              <a:t>Kính gửi:</a:t>
            </a:r>
            <a:endParaRPr b="0" i="0" sz="1200" u="none" cap="none" strike="noStrike">
              <a:solidFill>
                <a:schemeClr val="dk1"/>
              </a:solidFill>
              <a:latin typeface="Arial"/>
              <a:ea typeface="Arial"/>
              <a:cs typeface="Arial"/>
              <a:sym typeface="Arial"/>
            </a:endParaRPr>
          </a:p>
        </p:txBody>
      </p:sp>
      <p:sp>
        <p:nvSpPr>
          <p:cNvPr id="20" name="Google Shape;20;p1"/>
          <p:cNvSpPr/>
          <p:nvPr/>
        </p:nvSpPr>
        <p:spPr>
          <a:xfrm>
            <a:off x="1627632" y="2542473"/>
            <a:ext cx="5349240" cy="322795"/>
          </a:xfrm>
          <a:prstGeom prst="rect">
            <a:avLst/>
          </a:prstGeom>
          <a:solidFill>
            <a:srgbClr val="FFFFFF"/>
          </a:solidFill>
          <a:ln cap="flat" cmpd="sng" w="9525">
            <a:solidFill>
              <a:srgbClr val="CAD6DD"/>
            </a:solidFill>
            <a:prstDash val="solid"/>
            <a:round/>
            <a:headEnd len="sm" w="sm" type="none"/>
            <a:tailEnd len="sm" w="sm" type="none"/>
          </a:ln>
        </p:spPr>
        <p:txBody>
          <a:bodyPr anchorCtr="0" anchor="ctr" bIns="1250" lIns="1250" spcFirstLastPara="1" rIns="1250" wrap="square" tIns="164575">
            <a:normAutofit/>
          </a:bodyPr>
          <a:lstStyle/>
          <a:p>
            <a:pPr indent="0" lvl="0" marL="0" marR="0" rtl="0" algn="l">
              <a:lnSpc>
                <a:spcPct val="100000"/>
              </a:lnSpc>
              <a:spcBef>
                <a:spcPts val="0"/>
              </a:spcBef>
              <a:spcAft>
                <a:spcPts val="0"/>
              </a:spcAft>
              <a:buNone/>
            </a:pPr>
            <a:r>
              <a:rPr b="0" i="0" lang="en-US" sz="1000" u="none" cap="none" strike="noStrike">
                <a:solidFill>
                  <a:schemeClr val="dk1"/>
                </a:solidFill>
                <a:latin typeface="Arial"/>
                <a:ea typeface="Arial"/>
                <a:cs typeface="Arial"/>
                <a:sym typeface="Arial"/>
              </a:rPr>
              <a:t>Quý khách hàng / Quý đối tác: Cong Ty Demo An Binh</a:t>
            </a:r>
            <a:r>
              <a:rPr b="0" i="0" lang="en-US" sz="1000" u="none" cap="none" strike="noStrike">
                <a:solidFill>
                  <a:srgbClr val="000000"/>
                </a:solidFill>
                <a:latin typeface="Arial"/>
                <a:ea typeface="Arial"/>
                <a:cs typeface="Arial"/>
                <a:sym typeface="Arial"/>
              </a:rPr>
              <a:t/>
            </a:r>
            <a:endParaRPr b="1"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21" name="Google Shape;21;p1"/>
          <p:cNvSpPr/>
          <p:nvPr/>
        </p:nvSpPr>
        <p:spPr>
          <a:xfrm>
            <a:off x="621792" y="2974996"/>
            <a:ext cx="6355080" cy="658835"/>
          </a:xfrm>
          <a:prstGeom prst="rect">
            <a:avLst/>
          </a:prstGeom>
          <a:solidFill>
            <a:srgbClr val="EEF2F5"/>
          </a:solidFill>
          <a:ln cap="flat" cmpd="sng" w="9525">
            <a:solidFill>
              <a:srgbClr val="CAD6DD"/>
            </a:solidFill>
            <a:prstDash val="solid"/>
            <a:round/>
            <a:headEnd len="sm" w="sm" type="none"/>
            <a:tailEnd len="sm" w="sm" type="none"/>
          </a:ln>
        </p:spPr>
        <p:txBody>
          <a:bodyPr anchorCtr="0" anchor="ctr" bIns="1250" lIns="91425" spcFirstLastPara="1" rIns="1250" wrap="square" tIns="1250">
            <a:normAutofit/>
          </a:bodyPr>
          <a:lstStyle/>
          <a:p>
            <a:pPr indent="0" lvl="0" marL="0" marR="0" rtl="0" algn="l">
              <a:lnSpc>
                <a:spcPct val="100000"/>
              </a:lnSpc>
              <a:spcBef>
                <a:spcPts val="0"/>
              </a:spcBef>
              <a:spcAft>
                <a:spcPts val="0"/>
              </a:spcAft>
              <a:buClr>
                <a:srgbClr val="000000"/>
              </a:buClr>
              <a:buSzPts val="1050"/>
              <a:buFont typeface="Arial"/>
              <a:buNone/>
            </a:pPr>
            <a:r>
              <a:rPr b="0" i="0" lang="en-US" sz="1000" u="none" cap="none" strike="noStrike">
                <a:solidFill>
                  <a:srgbClr val="25313C"/>
                </a:solidFill>
                <a:latin typeface="Arial"/>
                <a:ea typeface="Arial"/>
                <a:cs typeface="Arial"/>
                <a:sym typeface="Arial"/>
              </a:rPr>
              <a:t>Lời đầu tiên, An Bình xin gửi lời cảm ơn chân thành đến Quý công ty đã quan tâm và tin dùng các dòng sản phẩm muối Phosphate do chúng tôi phân phối. Với cam kết về chất lượng và sự tận tâm, chúng tôi hân hạnh gửi đến Quý khách bảng báo giá ưu đãi nhất như sau:</a:t>
            </a:r>
            <a:endParaRPr b="0" i="0" sz="1000" u="none" cap="none" strike="noStrike">
              <a:solidFill>
                <a:schemeClr val="dk1"/>
              </a:solidFill>
              <a:latin typeface="Arial"/>
              <a:ea typeface="Arial"/>
              <a:cs typeface="Arial"/>
              <a:sym typeface="Arial"/>
            </a:endParaRPr>
          </a:p>
        </p:txBody>
      </p:sp>
      <p:sp>
        <p:nvSpPr>
          <p:cNvPr id="22" name="Google Shape;22;p1"/>
          <p:cNvSpPr/>
          <p:nvPr/>
        </p:nvSpPr>
        <p:spPr>
          <a:xfrm>
            <a:off x="621792" y="3722517"/>
            <a:ext cx="5943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50"/>
              <a:buFont typeface="Arial"/>
              <a:buNone/>
            </a:pPr>
            <a:r>
              <a:rPr b="1" i="0" lang="en-US" sz="1600" u="none" cap="none" strike="noStrike">
                <a:solidFill>
                  <a:srgbClr val="0F4C5C"/>
                </a:solidFill>
                <a:latin typeface="Arial"/>
                <a:ea typeface="Arial"/>
                <a:cs typeface="Arial"/>
                <a:sym typeface="Arial"/>
              </a:rPr>
              <a:t>Danh mục sản phẩm &amp; đơn giá</a:t>
            </a:r>
            <a:endParaRPr b="0" i="0" sz="1600" u="none" cap="none" strike="noStrike">
              <a:solidFill>
                <a:schemeClr val="dk1"/>
              </a:solidFill>
              <a:latin typeface="Arial"/>
              <a:ea typeface="Arial"/>
              <a:cs typeface="Arial"/>
              <a:sym typeface="Arial"/>
            </a:endParaRPr>
          </a:p>
        </p:txBody>
      </p:sp>
      <p:sp>
        <p:nvSpPr>
          <p:cNvPr id="23" name="Google Shape;23;p1"/>
          <p:cNvSpPr/>
          <p:nvPr/>
        </p:nvSpPr>
        <p:spPr>
          <a:xfrm>
            <a:off x="621792" y="3996837"/>
            <a:ext cx="406168" cy="475488"/>
          </a:xfrm>
          <a:prstGeom prst="rect">
            <a:avLst/>
          </a:prstGeom>
          <a:solidFill>
            <a:srgbClr val="245F80"/>
          </a:solidFill>
          <a:ln cap="flat" cmpd="sng" w="9525">
            <a:solidFill>
              <a:srgbClr val="CAD6DD"/>
            </a:solidFill>
            <a:prstDash val="solid"/>
            <a:round/>
            <a:headEnd len="sm" w="sm" type="none"/>
            <a:tailEnd len="sm" w="sm" type="none"/>
          </a:ln>
        </p:spPr>
        <p:txBody>
          <a:bodyPr anchorCtr="0" anchor="ctr" bIns="500" lIns="500" spcFirstLastPara="1" rIns="500" wrap="square" tIns="500">
            <a:normAutofit/>
          </a:bodyPr>
          <a:lstStyle/>
          <a:p>
            <a:pPr indent="0" lvl="0" marL="0" marR="0" rtl="0" algn="ctr">
              <a:lnSpc>
                <a:spcPct val="100000"/>
              </a:lnSpc>
              <a:spcBef>
                <a:spcPts val="0"/>
              </a:spcBef>
              <a:spcAft>
                <a:spcPts val="0"/>
              </a:spcAft>
              <a:buClr>
                <a:srgbClr val="FFFFFF"/>
              </a:buClr>
              <a:buSzPts val="1020"/>
              <a:buFont typeface="Arial"/>
              <a:buNone/>
            </a:pPr>
            <a:r>
              <a:rPr b="1" i="0" lang="en-US" sz="1020" u="none" cap="none" strike="noStrike">
                <a:solidFill>
                  <a:srgbClr val="FFFFFF"/>
                </a:solidFill>
                <a:latin typeface="Arial"/>
                <a:ea typeface="Arial"/>
                <a:cs typeface="Arial"/>
                <a:sym typeface="Arial"/>
              </a:rPr>
              <a:t>STT</a:t>
            </a:r>
            <a:endParaRPr b="0" i="0" sz="1020" u="none" cap="none" strike="noStrike">
              <a:solidFill>
                <a:schemeClr val="dk1"/>
              </a:solidFill>
              <a:latin typeface="Arial"/>
              <a:ea typeface="Arial"/>
              <a:cs typeface="Arial"/>
              <a:sym typeface="Arial"/>
            </a:endParaRPr>
          </a:p>
        </p:txBody>
      </p:sp>
      <p:sp>
        <p:nvSpPr>
          <p:cNvPr id="24" name="Google Shape;24;p1"/>
          <p:cNvSpPr/>
          <p:nvPr/>
        </p:nvSpPr>
        <p:spPr>
          <a:xfrm>
            <a:off x="1027961" y="3996837"/>
            <a:ext cx="2898371" cy="475488"/>
          </a:xfrm>
          <a:prstGeom prst="rect">
            <a:avLst/>
          </a:prstGeom>
          <a:solidFill>
            <a:srgbClr val="245F80"/>
          </a:solidFill>
          <a:ln cap="flat" cmpd="sng" w="9525">
            <a:solidFill>
              <a:srgbClr val="CAD6DD"/>
            </a:solidFill>
            <a:prstDash val="solid"/>
            <a:round/>
            <a:headEnd len="sm" w="sm" type="none"/>
            <a:tailEnd len="sm" w="sm" type="none"/>
          </a:ln>
        </p:spPr>
        <p:txBody>
          <a:bodyPr anchorCtr="0" anchor="ctr" bIns="500" lIns="500" spcFirstLastPara="1" rIns="500" wrap="square" tIns="500">
            <a:normAutofit/>
          </a:bodyPr>
          <a:lstStyle/>
          <a:p>
            <a:pPr indent="0" lvl="0" marL="0" marR="0" rtl="0" algn="ctr">
              <a:lnSpc>
                <a:spcPct val="100000"/>
              </a:lnSpc>
              <a:spcBef>
                <a:spcPts val="0"/>
              </a:spcBef>
              <a:spcAft>
                <a:spcPts val="0"/>
              </a:spcAft>
              <a:buClr>
                <a:srgbClr val="FFFFFF"/>
              </a:buClr>
              <a:buSzPts val="1020"/>
              <a:buFont typeface="Arial"/>
              <a:buNone/>
            </a:pPr>
            <a:r>
              <a:rPr b="1" i="0" lang="en-US" sz="1020" u="none" cap="none" strike="noStrike">
                <a:solidFill>
                  <a:srgbClr val="FFFFFF"/>
                </a:solidFill>
                <a:latin typeface="Arial"/>
                <a:ea typeface="Arial"/>
                <a:cs typeface="Arial"/>
                <a:sym typeface="Arial"/>
              </a:rPr>
              <a:t>Tên hàng</a:t>
            </a:r>
            <a:endParaRPr b="0" i="0" sz="1020" u="none" cap="none" strike="noStrike">
              <a:solidFill>
                <a:schemeClr val="dk1"/>
              </a:solidFill>
              <a:latin typeface="Arial"/>
              <a:ea typeface="Arial"/>
              <a:cs typeface="Arial"/>
              <a:sym typeface="Arial"/>
            </a:endParaRPr>
          </a:p>
        </p:txBody>
      </p:sp>
      <p:sp>
        <p:nvSpPr>
          <p:cNvPr id="25" name="Google Shape;25;p1"/>
          <p:cNvSpPr/>
          <p:nvPr/>
        </p:nvSpPr>
        <p:spPr>
          <a:xfrm>
            <a:off x="4839993" y="3996837"/>
            <a:ext cx="1005840" cy="475488"/>
          </a:xfrm>
          <a:prstGeom prst="rect">
            <a:avLst/>
          </a:prstGeom>
          <a:solidFill>
            <a:srgbClr val="245F80"/>
          </a:solidFill>
          <a:ln cap="flat" cmpd="sng" w="9525">
            <a:solidFill>
              <a:srgbClr val="CAD6DD"/>
            </a:solidFill>
            <a:prstDash val="solid"/>
            <a:round/>
            <a:headEnd len="sm" w="sm" type="none"/>
            <a:tailEnd len="sm" w="sm" type="none"/>
          </a:ln>
        </p:spPr>
        <p:txBody>
          <a:bodyPr anchorCtr="0" anchor="ctr" bIns="500" lIns="500" spcFirstLastPara="1" rIns="500" wrap="square" tIns="500">
            <a:normAutofit/>
          </a:bodyPr>
          <a:lstStyle/>
          <a:p>
            <a:pPr indent="0" lvl="0" marL="0" marR="0" rtl="0" algn="ctr">
              <a:lnSpc>
                <a:spcPct val="100000"/>
              </a:lnSpc>
              <a:spcBef>
                <a:spcPts val="0"/>
              </a:spcBef>
              <a:spcAft>
                <a:spcPts val="0"/>
              </a:spcAft>
              <a:buNone/>
            </a:pPr>
            <a:r>
              <a:rPr b="1" i="0" lang="en-US" sz="1020" u="none" cap="none" strike="noStrike">
                <a:solidFill>
                  <a:srgbClr val="FFFFFF"/>
                </a:solidFill>
                <a:latin typeface="Arial"/>
                <a:ea typeface="Arial"/>
                <a:cs typeface="Arial"/>
                <a:sym typeface="Arial"/>
              </a:rPr>
              <a:t>Đơn giá </a:t>
            </a:r>
            <a:endParaRPr b="1" i="0" sz="102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None/>
            </a:pPr>
            <a:r>
              <a:rPr b="1" i="0" lang="en-US" sz="1020" u="none" cap="none" strike="noStrike">
                <a:solidFill>
                  <a:srgbClr val="FFFFFF"/>
                </a:solidFill>
                <a:latin typeface="Arial"/>
                <a:ea typeface="Arial"/>
                <a:cs typeface="Arial"/>
                <a:sym typeface="Arial"/>
              </a:rPr>
              <a:t>(chưa VAT)</a:t>
            </a:r>
            <a:endParaRPr b="0" i="0" sz="1020" u="none" cap="none" strike="noStrike">
              <a:solidFill>
                <a:schemeClr val="dk1"/>
              </a:solidFill>
              <a:latin typeface="Arial"/>
              <a:ea typeface="Arial"/>
              <a:cs typeface="Arial"/>
              <a:sym typeface="Arial"/>
            </a:endParaRPr>
          </a:p>
        </p:txBody>
      </p:sp>
      <p:sp>
        <p:nvSpPr>
          <p:cNvPr id="26" name="Google Shape;26;p1"/>
          <p:cNvSpPr/>
          <p:nvPr/>
        </p:nvSpPr>
        <p:spPr>
          <a:xfrm>
            <a:off x="5845831" y="3996837"/>
            <a:ext cx="1131041" cy="475488"/>
          </a:xfrm>
          <a:prstGeom prst="rect">
            <a:avLst/>
          </a:prstGeom>
          <a:solidFill>
            <a:srgbClr val="245F80"/>
          </a:solidFill>
          <a:ln cap="flat" cmpd="sng" w="9525">
            <a:solidFill>
              <a:srgbClr val="CAD6DD"/>
            </a:solidFill>
            <a:prstDash val="solid"/>
            <a:round/>
            <a:headEnd len="sm" w="sm" type="none"/>
            <a:tailEnd len="sm" w="sm" type="none"/>
          </a:ln>
        </p:spPr>
        <p:txBody>
          <a:bodyPr anchorCtr="0" anchor="ctr" bIns="500" lIns="500" spcFirstLastPara="1" rIns="500" wrap="square" tIns="500">
            <a:normAutofit/>
          </a:bodyPr>
          <a:lstStyle/>
          <a:p>
            <a:pPr indent="0" lvl="0" marL="0" marR="0" rtl="0" algn="ctr">
              <a:lnSpc>
                <a:spcPct val="100000"/>
              </a:lnSpc>
              <a:spcBef>
                <a:spcPts val="0"/>
              </a:spcBef>
              <a:spcAft>
                <a:spcPts val="0"/>
              </a:spcAft>
              <a:buClr>
                <a:srgbClr val="FFFFFF"/>
              </a:buClr>
              <a:buSzPts val="1020"/>
              <a:buFont typeface="Arial"/>
              <a:buNone/>
            </a:pPr>
            <a:r>
              <a:rPr b="1" i="0" lang="en-US" sz="1020" u="none" cap="none" strike="noStrike">
                <a:solidFill>
                  <a:srgbClr val="FFFFFF"/>
                </a:solidFill>
                <a:latin typeface="Arial"/>
                <a:ea typeface="Arial"/>
                <a:cs typeface="Arial"/>
                <a:sym typeface="Arial"/>
              </a:rPr>
              <a:t>Đơn giá </a:t>
            </a:r>
            <a:endParaRPr b="1" i="0" sz="102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020"/>
              <a:buFont typeface="Arial"/>
              <a:buNone/>
            </a:pPr>
            <a:r>
              <a:rPr b="1" i="0" lang="en-US" sz="1020" u="none" cap="none" strike="noStrike">
                <a:solidFill>
                  <a:srgbClr val="FFFFFF"/>
                </a:solidFill>
                <a:latin typeface="Arial"/>
                <a:ea typeface="Arial"/>
                <a:cs typeface="Arial"/>
                <a:sym typeface="Arial"/>
              </a:rPr>
              <a:t>(Đã bao gồm VAT)</a:t>
            </a:r>
            <a:endParaRPr b="0" i="0" sz="1020" u="none" cap="none" strike="noStrike">
              <a:solidFill>
                <a:schemeClr val="dk1"/>
              </a:solidFill>
              <a:latin typeface="Arial"/>
              <a:ea typeface="Arial"/>
              <a:cs typeface="Arial"/>
              <a:sym typeface="Arial"/>
            </a:endParaRPr>
          </a:p>
        </p:txBody>
      </p:sp>
      <p:sp>
        <p:nvSpPr>
          <p:cNvPr id="27" name="Google Shape;27;p1"/>
          <p:cNvSpPr/>
          <p:nvPr/>
        </p:nvSpPr>
        <p:spPr>
          <a:xfrm>
            <a:off x="621792" y="4472325"/>
            <a:ext cx="406168" cy="420624"/>
          </a:xfrm>
          <a:prstGeom prst="rect">
            <a:avLst/>
          </a:prstGeom>
          <a:solidFill>
            <a:srgbClr val="F8FBFC"/>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Clr>
                <a:srgbClr val="25313C"/>
              </a:buClr>
              <a:buSzPts val="1040"/>
              <a:buFont typeface="Arial"/>
              <a:buNone/>
            </a:pPr>
            <a:r>
              <a:rPr b="1" i="0" lang="en-US" sz="1040" u="none" cap="none" strike="noStrike">
                <a:solidFill>
                  <a:srgbClr val="25313C"/>
                </a:solidFill>
                <a:latin typeface="Arial"/>
                <a:ea typeface="Arial"/>
                <a:cs typeface="Arial"/>
                <a:sym typeface="Arial"/>
              </a:rPr>
              <a:t>1</a:t>
            </a:r>
            <a:endParaRPr b="1" i="0" sz="1040" u="none" cap="none" strike="noStrike">
              <a:solidFill>
                <a:schemeClr val="dk1"/>
              </a:solidFill>
              <a:latin typeface="Arial"/>
              <a:ea typeface="Arial"/>
              <a:cs typeface="Arial"/>
              <a:sym typeface="Arial"/>
            </a:endParaRPr>
          </a:p>
        </p:txBody>
      </p:sp>
      <p:sp>
        <p:nvSpPr>
          <p:cNvPr id="28" name="Google Shape;28;p1"/>
          <p:cNvSpPr/>
          <p:nvPr/>
        </p:nvSpPr>
        <p:spPr>
          <a:xfrm>
            <a:off x="1027961" y="4472325"/>
            <a:ext cx="2898371" cy="420624"/>
          </a:xfrm>
          <a:prstGeom prst="rect">
            <a:avLst/>
          </a:prstGeom>
          <a:solidFill>
            <a:srgbClr val="F8FBFC"/>
          </a:solidFill>
          <a:ln cap="flat" cmpd="sng" w="9525">
            <a:solidFill>
              <a:srgbClr val="CAD6DD"/>
            </a:solidFill>
            <a:prstDash val="solid"/>
            <a:round/>
            <a:headEnd len="sm" w="sm" type="none"/>
            <a:tailEnd len="sm" w="sm" type="none"/>
          </a:ln>
        </p:spPr>
        <p:txBody>
          <a:bodyPr anchorCtr="0" anchor="ctr" bIns="750" lIns="91425" spcFirstLastPara="1" rIns="750" wrap="square" tIns="750">
            <a:normAutofit/>
          </a:bodyPr>
          <a:lstStyle/>
          <a:p>
            <a:pPr indent="0" lvl="0" marL="0" marR="0" rtl="0" algn="l">
              <a:lnSpc>
                <a:spcPct val="100000"/>
              </a:lnSpc>
              <a:spcBef>
                <a:spcPts val="0"/>
              </a:spcBef>
              <a:spcAft>
                <a:spcPts val="0"/>
              </a:spcAft>
              <a:buNone/>
            </a:pPr>
            <a:r>
              <a:rPr b="1" i="0" lang="en-US" sz="1200" u="none" cap="none" strike="noStrike">
                <a:solidFill>
                  <a:schemeClr val="dk1"/>
                </a:solidFill>
                <a:latin typeface="Arial"/>
                <a:ea typeface="Arial"/>
                <a:cs typeface="Arial"/>
                <a:sym typeface="Arial"/>
              </a:rPr>
              <a:t>Tetrasodium Pyrophosphate (TSPP)</a:t>
            </a:r>
            <a:endParaRPr b="1" i="0" sz="1200" u="none" cap="none" strike="noStrike">
              <a:solidFill>
                <a:schemeClr val="dk1"/>
              </a:solidFill>
              <a:latin typeface="Arial"/>
              <a:ea typeface="Arial"/>
              <a:cs typeface="Arial"/>
              <a:sym typeface="Arial"/>
            </a:endParaRPr>
          </a:p>
        </p:txBody>
      </p:sp>
      <p:sp>
        <p:nvSpPr>
          <p:cNvPr id="29" name="Google Shape;29;p1"/>
          <p:cNvSpPr/>
          <p:nvPr/>
        </p:nvSpPr>
        <p:spPr>
          <a:xfrm>
            <a:off x="4837176" y="4496070"/>
            <a:ext cx="1005840" cy="420624"/>
          </a:xfrm>
          <a:prstGeom prst="rect">
            <a:avLst/>
          </a:prstGeom>
          <a:solidFill>
            <a:srgbClr val="F8FBFC"/>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None/>
            </a:pPr>
            <a:r>
              <a:rPr b="1" i="0" lang="en-US" sz="1050" u="none" cap="none" strike="noStrike">
                <a:solidFill>
                  <a:schemeClr val="dk1"/>
                </a:solidFill>
                <a:latin typeface="Arial"/>
                <a:ea typeface="Arial"/>
                <a:cs typeface="Arial"/>
                <a:sym typeface="Arial"/>
              </a:rPr>
              <a:t>51,560</a:t>
            </a:r>
            <a:endParaRPr b="0" i="0" sz="1040" u="none" cap="none" strike="noStrike">
              <a:solidFill>
                <a:schemeClr val="dk1"/>
              </a:solidFill>
              <a:latin typeface="Arial"/>
              <a:ea typeface="Arial"/>
              <a:cs typeface="Arial"/>
              <a:sym typeface="Arial"/>
            </a:endParaRPr>
          </a:p>
        </p:txBody>
      </p:sp>
      <p:sp>
        <p:nvSpPr>
          <p:cNvPr id="30" name="Google Shape;30;p1"/>
          <p:cNvSpPr/>
          <p:nvPr/>
        </p:nvSpPr>
        <p:spPr>
          <a:xfrm>
            <a:off x="5845831" y="4472325"/>
            <a:ext cx="1131041" cy="420624"/>
          </a:xfrm>
          <a:prstGeom prst="rect">
            <a:avLst/>
          </a:prstGeom>
          <a:solidFill>
            <a:srgbClr val="F8FBFC"/>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Clr>
                <a:schemeClr val="dk1"/>
              </a:buClr>
              <a:buSzPts val="1040"/>
              <a:buFont typeface="Arial"/>
              <a:buNone/>
            </a:pPr>
            <a:r>
              <a:rPr b="1" i="0" lang="en-US" sz="1200" u="none" cap="none" strike="noStrike">
                <a:solidFill>
                  <a:schemeClr val="dk1"/>
                </a:solidFill>
                <a:latin typeface="Arial"/>
                <a:ea typeface="Arial"/>
                <a:cs typeface="Arial"/>
                <a:sym typeface="Arial"/>
              </a:rPr>
              <a:t/>
            </a:r>
            <a:endParaRPr b="1" i="0" sz="1200" u="none" cap="none" strike="noStrike">
              <a:solidFill>
                <a:srgbClr val="000000"/>
              </a:solidFill>
              <a:latin typeface="Arial"/>
              <a:ea typeface="Arial"/>
              <a:cs typeface="Arial"/>
              <a:sym typeface="Arial"/>
            </a:endParaRPr>
          </a:p>
        </p:txBody>
      </p:sp>
      <p:sp>
        <p:nvSpPr>
          <p:cNvPr id="31" name="Google Shape;31;p1"/>
          <p:cNvSpPr/>
          <p:nvPr/>
        </p:nvSpPr>
        <p:spPr>
          <a:xfrm>
            <a:off x="621792" y="4892949"/>
            <a:ext cx="406168" cy="420624"/>
          </a:xfrm>
          <a:prstGeom prst="rect">
            <a:avLst/>
          </a:prstGeom>
          <a:solidFill>
            <a:srgbClr val="EDF5F7"/>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Clr>
                <a:srgbClr val="25313C"/>
              </a:buClr>
              <a:buSzPts val="1040"/>
              <a:buFont typeface="Arial"/>
              <a:buNone/>
            </a:pPr>
            <a:r>
              <a:rPr b="1" i="0" lang="en-US" sz="1040" u="none" cap="none" strike="noStrike">
                <a:solidFill>
                  <a:srgbClr val="25313C"/>
                </a:solidFill>
                <a:latin typeface="Arial"/>
                <a:ea typeface="Arial"/>
                <a:cs typeface="Arial"/>
                <a:sym typeface="Arial"/>
              </a:rPr>
              <a:t>2</a:t>
            </a:r>
            <a:endParaRPr b="1" i="0" sz="1040" u="none" cap="none" strike="noStrike">
              <a:solidFill>
                <a:schemeClr val="dk1"/>
              </a:solidFill>
              <a:latin typeface="Arial"/>
              <a:ea typeface="Arial"/>
              <a:cs typeface="Arial"/>
              <a:sym typeface="Arial"/>
            </a:endParaRPr>
          </a:p>
        </p:txBody>
      </p:sp>
      <p:sp>
        <p:nvSpPr>
          <p:cNvPr id="32" name="Google Shape;32;p1"/>
          <p:cNvSpPr/>
          <p:nvPr/>
        </p:nvSpPr>
        <p:spPr>
          <a:xfrm>
            <a:off x="1027960" y="4892949"/>
            <a:ext cx="2898271" cy="420600"/>
          </a:xfrm>
          <a:prstGeom prst="rect">
            <a:avLst/>
          </a:prstGeom>
          <a:solidFill>
            <a:srgbClr val="EDF5F7"/>
          </a:solidFill>
          <a:ln cap="flat" cmpd="sng" w="9525">
            <a:solidFill>
              <a:srgbClr val="CAD6DD"/>
            </a:solidFill>
            <a:prstDash val="solid"/>
            <a:round/>
            <a:headEnd len="sm" w="sm" type="none"/>
            <a:tailEnd len="sm" w="sm" type="none"/>
          </a:ln>
        </p:spPr>
        <p:txBody>
          <a:bodyPr anchorCtr="0" anchor="ctr" bIns="750" lIns="91425" spcFirstLastPara="1" rIns="750" wrap="square" tIns="750">
            <a:normAutofit/>
          </a:bodyPr>
          <a:lstStyle/>
          <a:p>
            <a:pPr indent="0" lvl="0" marL="0" marR="0" rtl="0" algn="l">
              <a:lnSpc>
                <a:spcPct val="100000"/>
              </a:lnSpc>
              <a:spcBef>
                <a:spcPts val="0"/>
              </a:spcBef>
              <a:spcAft>
                <a:spcPts val="0"/>
              </a:spcAft>
              <a:buNone/>
            </a:pPr>
            <a:r>
              <a:rPr b="1" i="0" lang="en-US" sz="1200" u="none" cap="none" strike="noStrike">
                <a:solidFill>
                  <a:schemeClr val="dk1"/>
                </a:solidFill>
                <a:latin typeface="Arial"/>
                <a:ea typeface="Arial"/>
                <a:cs typeface="Arial"/>
                <a:sym typeface="Arial"/>
              </a:rPr>
              <a:t>Sodium Tripolyphosphate (STPP)</a:t>
            </a:r>
            <a:endParaRPr b="1" i="0" sz="1200" u="none" cap="none" strike="noStrike">
              <a:solidFill>
                <a:schemeClr val="dk1"/>
              </a:solidFill>
              <a:latin typeface="Arial"/>
              <a:ea typeface="Arial"/>
              <a:cs typeface="Arial"/>
              <a:sym typeface="Arial"/>
            </a:endParaRPr>
          </a:p>
        </p:txBody>
      </p:sp>
      <p:sp>
        <p:nvSpPr>
          <p:cNvPr id="33" name="Google Shape;33;p1"/>
          <p:cNvSpPr/>
          <p:nvPr/>
        </p:nvSpPr>
        <p:spPr>
          <a:xfrm>
            <a:off x="4839993" y="4892949"/>
            <a:ext cx="1005900" cy="420600"/>
          </a:xfrm>
          <a:prstGeom prst="rect">
            <a:avLst/>
          </a:prstGeom>
          <a:solidFill>
            <a:srgbClr val="EDF5F7"/>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None/>
            </a:pPr>
            <a:r>
              <a:rPr b="1" i="0" lang="en-US" sz="1050" u="none" cap="none" strike="noStrike">
                <a:solidFill>
                  <a:schemeClr val="dk1"/>
                </a:solidFill>
                <a:latin typeface="Arial"/>
                <a:ea typeface="Arial"/>
                <a:cs typeface="Arial"/>
                <a:sym typeface="Arial"/>
              </a:rPr>
              <a:t>51,560</a:t>
            </a:r>
            <a:endParaRPr b="0" i="0" sz="1040" u="none" cap="none" strike="noStrike">
              <a:solidFill>
                <a:schemeClr val="dk1"/>
              </a:solidFill>
              <a:latin typeface="Arial"/>
              <a:ea typeface="Arial"/>
              <a:cs typeface="Arial"/>
              <a:sym typeface="Arial"/>
            </a:endParaRPr>
          </a:p>
        </p:txBody>
      </p:sp>
      <p:sp>
        <p:nvSpPr>
          <p:cNvPr id="34" name="Google Shape;34;p1"/>
          <p:cNvSpPr/>
          <p:nvPr/>
        </p:nvSpPr>
        <p:spPr>
          <a:xfrm>
            <a:off x="5845831" y="4892949"/>
            <a:ext cx="1131041" cy="420624"/>
          </a:xfrm>
          <a:prstGeom prst="rect">
            <a:avLst/>
          </a:prstGeom>
          <a:solidFill>
            <a:srgbClr val="EDF5F7"/>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Clr>
                <a:schemeClr val="dk1"/>
              </a:buClr>
              <a:buSzPts val="1040"/>
              <a:buFont typeface="Arial"/>
              <a:buNone/>
            </a:pPr>
            <a:r>
              <a:rPr b="1" i="0" lang="en-US" sz="1200" u="none" cap="none" strike="noStrike">
                <a:solidFill>
                  <a:srgbClr val="000000"/>
                </a:solidFill>
                <a:latin typeface="Arial"/>
                <a:ea typeface="Arial"/>
                <a:cs typeface="Arial"/>
                <a:sym typeface="Arial"/>
              </a:rPr>
              <a:t/>
            </a:r>
            <a:endParaRPr b="1" i="0" sz="1200" u="none" cap="none" strike="noStrike">
              <a:solidFill>
                <a:srgbClr val="000000"/>
              </a:solidFill>
              <a:latin typeface="Arial"/>
              <a:ea typeface="Arial"/>
              <a:cs typeface="Arial"/>
              <a:sym typeface="Arial"/>
            </a:endParaRPr>
          </a:p>
        </p:txBody>
      </p:sp>
      <p:sp>
        <p:nvSpPr>
          <p:cNvPr id="35" name="Google Shape;35;p1"/>
          <p:cNvSpPr/>
          <p:nvPr/>
        </p:nvSpPr>
        <p:spPr>
          <a:xfrm>
            <a:off x="621792" y="5313573"/>
            <a:ext cx="406168" cy="420624"/>
          </a:xfrm>
          <a:prstGeom prst="rect">
            <a:avLst/>
          </a:prstGeom>
          <a:solidFill>
            <a:srgbClr val="F8FBFC"/>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Clr>
                <a:srgbClr val="25313C"/>
              </a:buClr>
              <a:buSzPts val="1040"/>
              <a:buFont typeface="Arial"/>
              <a:buNone/>
            </a:pPr>
            <a:r>
              <a:rPr b="1" i="0" lang="en-US" sz="1040" u="none" cap="none" strike="noStrike">
                <a:solidFill>
                  <a:srgbClr val="25313C"/>
                </a:solidFill>
                <a:latin typeface="Arial"/>
                <a:ea typeface="Arial"/>
                <a:cs typeface="Arial"/>
                <a:sym typeface="Arial"/>
              </a:rPr>
              <a:t>3</a:t>
            </a:r>
            <a:endParaRPr b="1" i="0" sz="1040" u="none" cap="none" strike="noStrike">
              <a:solidFill>
                <a:schemeClr val="dk1"/>
              </a:solidFill>
              <a:latin typeface="Arial"/>
              <a:ea typeface="Arial"/>
              <a:cs typeface="Arial"/>
              <a:sym typeface="Arial"/>
            </a:endParaRPr>
          </a:p>
        </p:txBody>
      </p:sp>
      <p:sp>
        <p:nvSpPr>
          <p:cNvPr id="36" name="Google Shape;36;p1"/>
          <p:cNvSpPr/>
          <p:nvPr/>
        </p:nvSpPr>
        <p:spPr>
          <a:xfrm>
            <a:off x="1027961" y="5313573"/>
            <a:ext cx="2898371" cy="420624"/>
          </a:xfrm>
          <a:prstGeom prst="rect">
            <a:avLst/>
          </a:prstGeom>
          <a:solidFill>
            <a:srgbClr val="F8FBFC"/>
          </a:solidFill>
          <a:ln cap="flat" cmpd="sng" w="9525">
            <a:solidFill>
              <a:srgbClr val="CAD6DD"/>
            </a:solidFill>
            <a:prstDash val="solid"/>
            <a:round/>
            <a:headEnd len="sm" w="sm" type="none"/>
            <a:tailEnd len="sm" w="sm" type="none"/>
          </a:ln>
        </p:spPr>
        <p:txBody>
          <a:bodyPr anchorCtr="0" anchor="ctr" bIns="750" lIns="91425" spcFirstLastPara="1" rIns="750" wrap="square" tIns="750">
            <a:normAutofit/>
          </a:bodyPr>
          <a:lstStyle/>
          <a:p>
            <a:pPr indent="0" lvl="0" marL="0" marR="0" rtl="0" algn="l">
              <a:lnSpc>
                <a:spcPct val="100000"/>
              </a:lnSpc>
              <a:spcBef>
                <a:spcPts val="0"/>
              </a:spcBef>
              <a:spcAft>
                <a:spcPts val="0"/>
              </a:spcAft>
              <a:buNone/>
            </a:pPr>
            <a:r>
              <a:rPr b="1" i="0" lang="en-US" sz="1200" u="none" cap="none" strike="noStrike">
                <a:solidFill>
                  <a:schemeClr val="dk1"/>
                </a:solidFill>
                <a:latin typeface="Arial"/>
                <a:ea typeface="Arial"/>
                <a:cs typeface="Arial"/>
                <a:sym typeface="Arial"/>
              </a:rPr>
              <a:t/>
            </a:r>
            <a:endParaRPr b="1" i="0" sz="1200" u="none" cap="none" strike="noStrike">
              <a:solidFill>
                <a:schemeClr val="dk1"/>
              </a:solidFill>
              <a:latin typeface="Arial"/>
              <a:ea typeface="Arial"/>
              <a:cs typeface="Arial"/>
              <a:sym typeface="Arial"/>
            </a:endParaRPr>
          </a:p>
        </p:txBody>
      </p:sp>
      <p:sp>
        <p:nvSpPr>
          <p:cNvPr id="37" name="Google Shape;37;p1"/>
          <p:cNvSpPr/>
          <p:nvPr/>
        </p:nvSpPr>
        <p:spPr>
          <a:xfrm>
            <a:off x="4839993" y="5313573"/>
            <a:ext cx="1005840" cy="420624"/>
          </a:xfrm>
          <a:prstGeom prst="rect">
            <a:avLst/>
          </a:prstGeom>
          <a:solidFill>
            <a:srgbClr val="F8FBFC"/>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None/>
            </a:pPr>
            <a:r>
              <a:rPr b="1" i="0" lang="en-US" sz="1050" u="none" cap="none" strike="noStrike">
                <a:solidFill>
                  <a:schemeClr val="dk1"/>
                </a:solidFill>
                <a:latin typeface="Arial"/>
                <a:ea typeface="Arial"/>
                <a:cs typeface="Arial"/>
                <a:sym typeface="Arial"/>
              </a:rPr>
              <a:t/>
            </a:r>
            <a:endParaRPr b="0" i="0" sz="1040" u="none" cap="none" strike="noStrike">
              <a:solidFill>
                <a:schemeClr val="dk1"/>
              </a:solidFill>
              <a:latin typeface="Arial"/>
              <a:ea typeface="Arial"/>
              <a:cs typeface="Arial"/>
              <a:sym typeface="Arial"/>
            </a:endParaRPr>
          </a:p>
        </p:txBody>
      </p:sp>
      <p:sp>
        <p:nvSpPr>
          <p:cNvPr id="38" name="Google Shape;38;p1"/>
          <p:cNvSpPr/>
          <p:nvPr/>
        </p:nvSpPr>
        <p:spPr>
          <a:xfrm>
            <a:off x="5845831" y="5313573"/>
            <a:ext cx="1131041" cy="420624"/>
          </a:xfrm>
          <a:prstGeom prst="rect">
            <a:avLst/>
          </a:prstGeom>
          <a:solidFill>
            <a:srgbClr val="F8FBFC"/>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Clr>
                <a:schemeClr val="dk1"/>
              </a:buClr>
              <a:buSzPts val="1040"/>
              <a:buFont typeface="Arial"/>
              <a:buNone/>
            </a:pPr>
            <a:r>
              <a:rPr b="1" i="0" lang="en-US" sz="1200" u="none" cap="none" strike="noStrike">
                <a:solidFill>
                  <a:schemeClr val="dk1"/>
                </a:solidFill>
                <a:latin typeface="Arial"/>
                <a:ea typeface="Arial"/>
                <a:cs typeface="Arial"/>
                <a:sym typeface="Arial"/>
              </a:rPr>
              <a:t/>
            </a:r>
            <a:endParaRPr b="1" i="0" sz="1200" u="none" cap="none" strike="noStrike">
              <a:solidFill>
                <a:schemeClr val="dk1"/>
              </a:solidFill>
              <a:latin typeface="Arial"/>
              <a:ea typeface="Arial"/>
              <a:cs typeface="Arial"/>
              <a:sym typeface="Arial"/>
            </a:endParaRPr>
          </a:p>
        </p:txBody>
      </p:sp>
      <p:sp>
        <p:nvSpPr>
          <p:cNvPr id="39" name="Google Shape;39;p1"/>
          <p:cNvSpPr/>
          <p:nvPr/>
        </p:nvSpPr>
        <p:spPr>
          <a:xfrm>
            <a:off x="621792" y="6026805"/>
            <a:ext cx="5943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50"/>
              <a:buFont typeface="Arial"/>
              <a:buNone/>
            </a:pPr>
            <a:r>
              <a:rPr b="1" i="0" lang="en-US" sz="1600" u="none" cap="none" strike="noStrike">
                <a:solidFill>
                  <a:srgbClr val="0F4C5C"/>
                </a:solidFill>
                <a:latin typeface="Arial"/>
                <a:ea typeface="Arial"/>
                <a:cs typeface="Arial"/>
                <a:sym typeface="Arial"/>
              </a:rPr>
              <a:t>Các điều khoản &amp; chính sách thương mại</a:t>
            </a:r>
            <a:endParaRPr b="0" i="0" sz="1600" u="none" cap="none" strike="noStrike">
              <a:solidFill>
                <a:schemeClr val="dk1"/>
              </a:solidFill>
              <a:latin typeface="Arial"/>
              <a:ea typeface="Arial"/>
              <a:cs typeface="Arial"/>
              <a:sym typeface="Arial"/>
            </a:endParaRPr>
          </a:p>
        </p:txBody>
      </p:sp>
      <p:sp>
        <p:nvSpPr>
          <p:cNvPr id="40" name="Google Shape;40;p1"/>
          <p:cNvSpPr/>
          <p:nvPr/>
        </p:nvSpPr>
        <p:spPr>
          <a:xfrm>
            <a:off x="621792" y="6301125"/>
            <a:ext cx="6355080" cy="402336"/>
          </a:xfrm>
          <a:prstGeom prst="rect">
            <a:avLst/>
          </a:prstGeom>
          <a:solidFill>
            <a:srgbClr val="EAF3F4"/>
          </a:solidFill>
          <a:ln cap="flat" cmpd="sng" w="9525">
            <a:solidFill>
              <a:srgbClr val="CAD6DD"/>
            </a:solidFill>
            <a:prstDash val="solid"/>
            <a:round/>
            <a:headEnd len="sm" w="sm" type="none"/>
            <a:tailEnd len="sm" w="sm" type="none"/>
          </a:ln>
        </p:spPr>
        <p:txBody>
          <a:bodyPr anchorCtr="0" anchor="ctr" bIns="1250" lIns="91425" spcFirstLastPara="1" rIns="1250" wrap="square" tIns="1250">
            <a:normAutofit/>
          </a:bodyPr>
          <a:lstStyle/>
          <a:p>
            <a:pPr indent="0" lvl="0" marL="0" marR="0" rtl="0" algn="l">
              <a:lnSpc>
                <a:spcPct val="100000"/>
              </a:lnSpc>
              <a:spcBef>
                <a:spcPts val="0"/>
              </a:spcBef>
              <a:spcAft>
                <a:spcPts val="0"/>
              </a:spcAft>
              <a:buClr>
                <a:srgbClr val="000000"/>
              </a:buClr>
              <a:buSzPts val="1070"/>
              <a:buFont typeface="Arial"/>
              <a:buNone/>
            </a:pPr>
            <a:r>
              <a:rPr b="1" i="0" lang="en-US" sz="1070" u="none" cap="none" strike="noStrike">
                <a:solidFill>
                  <a:srgbClr val="1F3D5B"/>
                </a:solidFill>
                <a:latin typeface="Arial"/>
                <a:ea typeface="Arial"/>
                <a:cs typeface="Arial"/>
                <a:sym typeface="Arial"/>
              </a:rPr>
              <a:t>Để đảm bảo quyền lợi tốt nhất cho Quý khách, An Bình áp dụng các chính sách sau:</a:t>
            </a:r>
            <a:endParaRPr b="1" i="0" sz="1000" u="none" cap="none" strike="noStrike">
              <a:solidFill>
                <a:schemeClr val="dk1"/>
              </a:solidFill>
              <a:latin typeface="Arial"/>
              <a:ea typeface="Arial"/>
              <a:cs typeface="Arial"/>
              <a:sym typeface="Arial"/>
            </a:endParaRPr>
          </a:p>
        </p:txBody>
      </p:sp>
      <p:sp>
        <p:nvSpPr>
          <p:cNvPr id="41" name="Google Shape;41;p1"/>
          <p:cNvSpPr/>
          <p:nvPr/>
        </p:nvSpPr>
        <p:spPr>
          <a:xfrm>
            <a:off x="621792" y="6813188"/>
            <a:ext cx="4269232" cy="2339955"/>
          </a:xfrm>
          <a:prstGeom prst="rect">
            <a:avLst/>
          </a:prstGeom>
          <a:noFill/>
          <a:ln cap="flat" cmpd="sng" w="9525">
            <a:solidFill>
              <a:schemeClr val="accent6"/>
            </a:solidFill>
            <a:prstDash val="solid"/>
            <a:round/>
            <a:headEnd len="sm" w="sm" type="none"/>
            <a:tailEnd len="sm" w="sm" type="none"/>
          </a:ln>
        </p:spPr>
        <p:txBody>
          <a:bodyPr anchorCtr="0" anchor="t" bIns="1250" lIns="91425" spcFirstLastPara="1" rIns="45700" wrap="square" tIns="109725">
            <a:normAutofit/>
          </a:bodyPr>
          <a:lstStyle/>
          <a:p>
            <a:pPr indent="-114300" lvl="0" marL="114300" marR="0" rtl="0" algn="l">
              <a:lnSpc>
                <a:spcPct val="100000"/>
              </a:lnSpc>
              <a:spcBef>
                <a:spcPts val="220"/>
              </a:spcBef>
              <a:spcAft>
                <a:spcPts val="0"/>
              </a:spcAft>
              <a:buClr>
                <a:srgbClr val="25313C"/>
              </a:buClr>
              <a:buSzPts val="970"/>
              <a:buFont typeface="Arial"/>
              <a:buChar char="•"/>
            </a:pPr>
            <a:r>
              <a:rPr b="1" i="0" lang="en-US" sz="1100" u="none" cap="none" strike="noStrike">
                <a:solidFill>
                  <a:srgbClr val="25313C"/>
                </a:solidFill>
                <a:latin typeface="Arial"/>
                <a:ea typeface="Arial"/>
                <a:cs typeface="Arial"/>
                <a:sym typeface="Arial"/>
              </a:rPr>
              <a:t>Giá trị trọn gói: </a:t>
            </a:r>
            <a:r>
              <a:rPr b="0" i="0" lang="en-US" sz="1100" u="none" cap="none" strike="noStrike">
                <a:solidFill>
                  <a:srgbClr val="25313C"/>
                </a:solidFill>
                <a:latin typeface="Arial"/>
                <a:ea typeface="Arial"/>
                <a:cs typeface="Arial"/>
                <a:sym typeface="Arial"/>
              </a:rPr>
              <a:t>Đơn giá nêu trên là giá giao tận nơi theo khối lượng và địa chỉ giao hàng của báo giá này; không phát sinh thêm phí vận chuyển hoặc chi phí ẩn.</a:t>
            </a:r>
            <a:endParaRPr b="0" i="0" sz="1100" u="none" cap="none" strike="noStrike">
              <a:solidFill>
                <a:srgbClr val="000000"/>
              </a:solidFill>
              <a:latin typeface="Arial"/>
              <a:ea typeface="Arial"/>
              <a:cs typeface="Arial"/>
              <a:sym typeface="Arial"/>
            </a:endParaRPr>
          </a:p>
          <a:p>
            <a:pPr indent="-114300" lvl="0" marL="114300" marR="0" rtl="0" algn="l">
              <a:lnSpc>
                <a:spcPct val="150000"/>
              </a:lnSpc>
              <a:spcBef>
                <a:spcPts val="220"/>
              </a:spcBef>
              <a:spcAft>
                <a:spcPts val="0"/>
              </a:spcAft>
              <a:buClr>
                <a:srgbClr val="25313C"/>
              </a:buClr>
              <a:buSzPts val="970"/>
              <a:buFont typeface="Arial"/>
              <a:buChar char="•"/>
            </a:pPr>
            <a:r>
              <a:rPr b="1" i="0" lang="en-US" sz="1100" u="none" cap="none" strike="noStrike">
                <a:solidFill>
                  <a:srgbClr val="25313C"/>
                </a:solidFill>
                <a:latin typeface="Arial"/>
                <a:ea typeface="Arial"/>
                <a:cs typeface="Arial"/>
                <a:sym typeface="Arial"/>
              </a:rPr>
              <a:t>Hiệu lực: </a:t>
            </a:r>
            <a:r>
              <a:rPr b="0" i="0" lang="en-US" sz="1100" u="none" cap="none" strike="noStrike">
                <a:solidFill>
                  <a:srgbClr val="25313C"/>
                </a:solidFill>
                <a:latin typeface="Arial"/>
                <a:ea typeface="Arial"/>
                <a:cs typeface="Arial"/>
                <a:sym typeface="Arial"/>
              </a:rPr>
              <a:t>Báo giá có giá trị trong vòng 01 ngày kể từ ngày gửi.</a:t>
            </a:r>
            <a:endParaRPr b="0" i="0" sz="1100" u="none" cap="none" strike="noStrike">
              <a:solidFill>
                <a:srgbClr val="000000"/>
              </a:solidFill>
              <a:latin typeface="Arial"/>
              <a:ea typeface="Arial"/>
              <a:cs typeface="Arial"/>
              <a:sym typeface="Arial"/>
            </a:endParaRPr>
          </a:p>
          <a:p>
            <a:pPr indent="-114300" lvl="0" marL="114300" marR="0" rtl="0" algn="l">
              <a:lnSpc>
                <a:spcPct val="100000"/>
              </a:lnSpc>
              <a:spcBef>
                <a:spcPts val="220"/>
              </a:spcBef>
              <a:spcAft>
                <a:spcPts val="0"/>
              </a:spcAft>
              <a:buClr>
                <a:srgbClr val="25313C"/>
              </a:buClr>
              <a:buSzPts val="970"/>
              <a:buFont typeface="Arial"/>
              <a:buChar char="•"/>
            </a:pPr>
            <a:r>
              <a:rPr b="1" i="0" lang="en-US" sz="1100" u="none" cap="none" strike="noStrike">
                <a:solidFill>
                  <a:srgbClr val="25313C"/>
                </a:solidFill>
                <a:latin typeface="Arial"/>
                <a:ea typeface="Arial"/>
                <a:cs typeface="Arial"/>
                <a:sym typeface="Arial"/>
              </a:rPr>
              <a:t>Chính sách giá: </a:t>
            </a:r>
            <a:r>
              <a:rPr b="0" i="0" lang="en-US" sz="1100" u="none" cap="none" strike="noStrike">
                <a:solidFill>
                  <a:srgbClr val="25313C"/>
                </a:solidFill>
                <a:latin typeface="Arial"/>
                <a:ea typeface="Arial"/>
                <a:cs typeface="Arial"/>
                <a:sym typeface="Arial"/>
              </a:rPr>
              <a:t>Đơn hàng tối thiểu từ 01 bao 25 kg. Tổng khối lượng từ 02 tấn được hưởng giá sỉ, có thể gộp nhiều mã sản phẩm cho một đơn hàng.</a:t>
            </a:r>
            <a:endParaRPr b="0" i="0" sz="1100" u="none" cap="none" strike="noStrike">
              <a:solidFill>
                <a:srgbClr val="000000"/>
              </a:solidFill>
              <a:latin typeface="Arial"/>
              <a:ea typeface="Arial"/>
              <a:cs typeface="Arial"/>
              <a:sym typeface="Arial"/>
            </a:endParaRPr>
          </a:p>
          <a:p>
            <a:pPr indent="-114300" lvl="0" marL="114300" marR="0" rtl="0" algn="l">
              <a:lnSpc>
                <a:spcPct val="100000"/>
              </a:lnSpc>
              <a:spcBef>
                <a:spcPts val="220"/>
              </a:spcBef>
              <a:spcAft>
                <a:spcPts val="0"/>
              </a:spcAft>
              <a:buClr>
                <a:srgbClr val="25313C"/>
              </a:buClr>
              <a:buSzPts val="970"/>
              <a:buFont typeface="Arial"/>
              <a:buChar char="•"/>
            </a:pPr>
            <a:r>
              <a:rPr b="1" i="0" lang="en-US" sz="1100" u="none" cap="none" strike="noStrike">
                <a:solidFill>
                  <a:srgbClr val="25313C"/>
                </a:solidFill>
                <a:latin typeface="Arial"/>
                <a:ea typeface="Arial"/>
                <a:cs typeface="Arial"/>
                <a:sym typeface="Arial"/>
              </a:rPr>
              <a:t>Chính sách vận chuyển: </a:t>
            </a:r>
            <a:r>
              <a:rPr b="0" i="0" lang="en-US" sz="1100" u="none" cap="none" strike="noStrike">
                <a:solidFill>
                  <a:srgbClr val="25313C"/>
                </a:solidFill>
                <a:latin typeface="Arial"/>
                <a:ea typeface="Arial"/>
                <a:cs typeface="Arial"/>
                <a:sym typeface="Arial"/>
              </a:rPr>
              <a:t>Giao hàng tận nơi theo địa chỉ chỉ định; chi phí giao hàng đã bao gồm trong đơn giá.</a:t>
            </a:r>
            <a:endParaRPr b="0" i="0" sz="1100" u="none" cap="none" strike="noStrike">
              <a:solidFill>
                <a:srgbClr val="000000"/>
              </a:solidFill>
              <a:latin typeface="Arial"/>
              <a:ea typeface="Arial"/>
              <a:cs typeface="Arial"/>
              <a:sym typeface="Arial"/>
            </a:endParaRPr>
          </a:p>
          <a:p>
            <a:pPr indent="-114300" lvl="0" marL="114300" marR="0" rtl="0" algn="l">
              <a:lnSpc>
                <a:spcPct val="100000"/>
              </a:lnSpc>
              <a:spcBef>
                <a:spcPts val="220"/>
              </a:spcBef>
              <a:spcAft>
                <a:spcPts val="0"/>
              </a:spcAft>
              <a:buClr>
                <a:schemeClr val="dk1"/>
              </a:buClr>
              <a:buSzPts val="970"/>
              <a:buFont typeface="Arial"/>
              <a:buChar char="•"/>
            </a:pPr>
            <a:r>
              <a:rPr b="1" i="0" lang="en-US" sz="1100" u="none" cap="none" strike="noStrike">
                <a:solidFill>
                  <a:schemeClr val="dk1"/>
                </a:solidFill>
                <a:latin typeface="Arial"/>
                <a:ea typeface="Arial"/>
                <a:cs typeface="Arial"/>
                <a:sym typeface="Arial"/>
              </a:rPr>
              <a:t>Phương thức thanh toán:</a:t>
            </a:r>
            <a:r>
              <a:rPr b="0" i="0" lang="en-US" sz="1100" u="none" cap="none" strike="noStrike">
                <a:solidFill>
                  <a:schemeClr val="dk1"/>
                </a:solidFill>
                <a:latin typeface="Arial"/>
                <a:ea typeface="Arial"/>
                <a:cs typeface="Arial"/>
                <a:sym typeface="Arial"/>
              </a:rPr>
              <a:t> Thanh toán 30% trước khi xuất kho và 70% còn lại sau khi hoàn tất nghiệm thu và nhận hàng.</a:t>
            </a:r>
            <a:endParaRPr b="0" i="0" sz="1100" u="none" cap="none" strike="noStrike">
              <a:solidFill>
                <a:srgbClr val="000000"/>
              </a:solidFill>
              <a:latin typeface="Arial"/>
              <a:ea typeface="Arial"/>
              <a:cs typeface="Arial"/>
              <a:sym typeface="Arial"/>
            </a:endParaRPr>
          </a:p>
        </p:txBody>
      </p:sp>
      <p:sp>
        <p:nvSpPr>
          <p:cNvPr id="42" name="Google Shape;42;p1"/>
          <p:cNvSpPr/>
          <p:nvPr/>
        </p:nvSpPr>
        <p:spPr>
          <a:xfrm>
            <a:off x="4978166" y="6822333"/>
            <a:ext cx="2049739" cy="256032"/>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25313C"/>
              </a:buClr>
              <a:buSzPts val="1040"/>
              <a:buFont typeface="Arial"/>
              <a:buNone/>
            </a:pPr>
            <a:r>
              <a:rPr b="1" i="0" lang="en-US" sz="1040" u="none" cap="none" strike="noStrike">
                <a:solidFill>
                  <a:srgbClr val="25313C"/>
                </a:solidFill>
                <a:latin typeface="Arial"/>
                <a:ea typeface="Arial"/>
                <a:cs typeface="Arial"/>
                <a:sym typeface="Arial"/>
              </a:rPr>
              <a:t>Ngày 10 tháng 10 năm 2026</a:t>
            </a:r>
            <a:endParaRPr b="0" i="0" sz="1040" u="none" cap="none" strike="noStrike">
              <a:solidFill>
                <a:schemeClr val="dk1"/>
              </a:solidFill>
              <a:latin typeface="Arial"/>
              <a:ea typeface="Arial"/>
              <a:cs typeface="Arial"/>
              <a:sym typeface="Arial"/>
            </a:endParaRPr>
          </a:p>
        </p:txBody>
      </p:sp>
      <p:sp>
        <p:nvSpPr>
          <p:cNvPr id="43" name="Google Shape;43;p1"/>
          <p:cNvSpPr/>
          <p:nvPr/>
        </p:nvSpPr>
        <p:spPr>
          <a:xfrm>
            <a:off x="5065776" y="7151517"/>
            <a:ext cx="1920240" cy="530352"/>
          </a:xfrm>
          <a:prstGeom prst="rect">
            <a:avLst/>
          </a:prstGeom>
          <a:solidFill>
            <a:srgbClr val="EAF3F4"/>
          </a:solidFill>
          <a:ln cap="flat" cmpd="sng" w="9525">
            <a:solidFill>
              <a:srgbClr val="CAD6DD"/>
            </a:solidFill>
            <a:prstDash val="solid"/>
            <a:round/>
            <a:headEnd len="sm" w="sm" type="none"/>
            <a:tailEnd len="sm" w="sm" type="none"/>
          </a:ln>
        </p:spPr>
        <p:txBody>
          <a:bodyPr anchorCtr="0" anchor="ctr" bIns="1000" lIns="1000" spcFirstLastPara="1" rIns="1000" wrap="square" tIns="1000">
            <a:normAutofit/>
          </a:bodyPr>
          <a:lstStyle/>
          <a:p>
            <a:pPr indent="0" lvl="0" marL="0" marR="0" rtl="0" algn="ctr">
              <a:lnSpc>
                <a:spcPct val="100000"/>
              </a:lnSpc>
              <a:spcBef>
                <a:spcPts val="0"/>
              </a:spcBef>
              <a:spcAft>
                <a:spcPts val="0"/>
              </a:spcAft>
              <a:buClr>
                <a:srgbClr val="1F3D5B"/>
              </a:buClr>
              <a:buSzPts val="1120"/>
              <a:buFont typeface="Arial"/>
              <a:buNone/>
            </a:pPr>
            <a:r>
              <a:rPr b="1" i="0" lang="en-US" sz="1120" u="none" cap="none" strike="noStrike">
                <a:solidFill>
                  <a:srgbClr val="1F3D5B"/>
                </a:solidFill>
                <a:latin typeface="Arial"/>
                <a:ea typeface="Arial"/>
                <a:cs typeface="Arial"/>
                <a:sym typeface="Arial"/>
              </a:rPr>
              <a:t>CÔNG TY TNHH</a:t>
            </a:r>
            <a:endParaRPr b="0" i="0" sz="112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1F3D5B"/>
              </a:buClr>
              <a:buSzPts val="1120"/>
              <a:buFont typeface="Arial"/>
              <a:buNone/>
            </a:pPr>
            <a:r>
              <a:rPr b="1" i="0" lang="en-US" sz="1120" u="none" cap="none" strike="noStrike">
                <a:solidFill>
                  <a:srgbClr val="1F3D5B"/>
                </a:solidFill>
                <a:latin typeface="Arial"/>
                <a:ea typeface="Arial"/>
                <a:cs typeface="Arial"/>
                <a:sym typeface="Arial"/>
              </a:rPr>
              <a:t>AN BÌNH CHEMTECH</a:t>
            </a:r>
            <a:endParaRPr b="0" i="0" sz="1120" u="none" cap="none" strike="noStrike">
              <a:solidFill>
                <a:schemeClr val="dk1"/>
              </a:solidFill>
              <a:latin typeface="Arial"/>
              <a:ea typeface="Arial"/>
              <a:cs typeface="Arial"/>
              <a:sym typeface="Arial"/>
            </a:endParaRPr>
          </a:p>
        </p:txBody>
      </p:sp>
      <p:pic>
        <p:nvPicPr>
          <p:cNvPr descr="/mnt/data/bao_media/image2.png" id="44" name="Google Shape;44;p1"/>
          <p:cNvPicPr preferRelativeResize="0"/>
          <p:nvPr/>
        </p:nvPicPr>
        <p:blipFill rotWithShape="1">
          <a:blip r:embed="rId5">
            <a:alphaModFix/>
          </a:blip>
          <a:srcRect b="0" l="0" r="0" t="0"/>
          <a:stretch/>
        </p:blipFill>
        <p:spPr>
          <a:xfrm>
            <a:off x="5340096" y="7736733"/>
            <a:ext cx="1325880" cy="1325880"/>
          </a:xfrm>
          <a:prstGeom prst="rect">
            <a:avLst/>
          </a:prstGeom>
          <a:noFill/>
          <a:ln>
            <a:noFill/>
          </a:ln>
        </p:spPr>
      </p:pic>
      <p:sp>
        <p:nvSpPr>
          <p:cNvPr id="45" name="Google Shape;45;p1"/>
          <p:cNvSpPr/>
          <p:nvPr/>
        </p:nvSpPr>
        <p:spPr>
          <a:xfrm>
            <a:off x="621792" y="9505188"/>
            <a:ext cx="6355080" cy="402336"/>
          </a:xfrm>
          <a:prstGeom prst="rect">
            <a:avLst/>
          </a:prstGeom>
          <a:solidFill>
            <a:srgbClr val="EAF3F4"/>
          </a:solidFill>
          <a:ln cap="flat" cmpd="sng" w="9525">
            <a:solidFill>
              <a:srgbClr val="CAD6DD"/>
            </a:solidFill>
            <a:prstDash val="solid"/>
            <a:round/>
            <a:headEnd len="sm" w="sm" type="none"/>
            <a:tailEnd len="sm" w="sm" type="none"/>
          </a:ln>
        </p:spPr>
        <p:txBody>
          <a:bodyPr anchorCtr="0" anchor="ctr" bIns="1250" lIns="91425" spcFirstLastPara="1" rIns="1250" wrap="square" tIns="1250">
            <a:normAutofit/>
          </a:bodyPr>
          <a:lstStyle/>
          <a:p>
            <a:pPr indent="0" lvl="0" marL="0" marR="0" rtl="0" algn="ctr">
              <a:lnSpc>
                <a:spcPct val="100000"/>
              </a:lnSpc>
              <a:spcBef>
                <a:spcPts val="0"/>
              </a:spcBef>
              <a:spcAft>
                <a:spcPts val="0"/>
              </a:spcAft>
              <a:buClr>
                <a:srgbClr val="000000"/>
              </a:buClr>
              <a:buSzPts val="1070"/>
              <a:buFont typeface="Arial"/>
              <a:buNone/>
            </a:pPr>
            <a:r>
              <a:rPr b="0" i="0" lang="en-US" sz="1070" u="none" cap="none" strike="noStrike">
                <a:solidFill>
                  <a:srgbClr val="1F3D5B"/>
                </a:solidFill>
                <a:latin typeface="Arial"/>
                <a:ea typeface="Arial"/>
                <a:cs typeface="Arial"/>
                <a:sym typeface="Arial"/>
              </a:rPr>
              <a:t>Chúng tôi rất mong nhận được phản hồi từ Quý công ty để sớm có cơ hội đồng hành cùng sự phát triển của Quý vị.</a:t>
            </a:r>
            <a:endParaRPr b="0" i="0" sz="1000" u="none" cap="none" strike="noStrike">
              <a:solidFill>
                <a:schemeClr val="dk1"/>
              </a:solidFill>
              <a:latin typeface="Arial"/>
              <a:ea typeface="Arial"/>
              <a:cs typeface="Arial"/>
              <a:sym typeface="Arial"/>
            </a:endParaRPr>
          </a:p>
        </p:txBody>
      </p:sp>
      <p:sp>
        <p:nvSpPr>
          <p:cNvPr id="46" name="Google Shape;46;p1"/>
          <p:cNvSpPr/>
          <p:nvPr/>
        </p:nvSpPr>
        <p:spPr>
          <a:xfrm>
            <a:off x="2598736" y="2159828"/>
            <a:ext cx="2474342" cy="16823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50" u="none" cap="none" strike="noStrike">
                <a:solidFill>
                  <a:srgbClr val="245F80"/>
                </a:solidFill>
                <a:latin typeface="Arial"/>
                <a:ea typeface="Arial"/>
                <a:cs typeface="Arial"/>
                <a:sym typeface="Arial"/>
              </a:rPr>
              <a:t>ABC-[]/QT/[2606]/[01]</a:t>
            </a:r>
            <a:endParaRPr b="0" i="0" sz="1250" u="none" cap="none" strike="noStrike">
              <a:solidFill>
                <a:srgbClr val="000000"/>
              </a:solidFill>
              <a:latin typeface="Arial"/>
              <a:ea typeface="Arial"/>
              <a:cs typeface="Arial"/>
              <a:sym typeface="Arial"/>
            </a:endParaRPr>
          </a:p>
        </p:txBody>
      </p:sp>
      <p:sp>
        <p:nvSpPr>
          <p:cNvPr id="47" name="Google Shape;47;p1"/>
          <p:cNvSpPr/>
          <p:nvPr/>
        </p:nvSpPr>
        <p:spPr>
          <a:xfrm>
            <a:off x="530352" y="219457"/>
            <a:ext cx="5899033" cy="15406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cap="none" strike="noStrike">
                <a:solidFill>
                  <a:srgbClr val="1F3D5B"/>
                </a:solidFill>
                <a:latin typeface="Arial"/>
                <a:ea typeface="Arial"/>
                <a:cs typeface="Arial"/>
                <a:sym typeface="Arial"/>
              </a:rPr>
              <a:t>An Bình Chemtech - Đối tác tin cậy cho giải pháp phụ gia thực phẩm</a:t>
            </a:r>
            <a:endParaRPr b="0" i="0" sz="1000" u="none" cap="none" strike="noStrike">
              <a:solidFill>
                <a:schemeClr val="dk1"/>
              </a:solidFill>
              <a:latin typeface="Arial"/>
              <a:ea typeface="Arial"/>
              <a:cs typeface="Arial"/>
              <a:sym typeface="Arial"/>
            </a:endParaRPr>
          </a:p>
        </p:txBody>
      </p:sp>
      <p:sp>
        <p:nvSpPr>
          <p:cNvPr id="48" name="Google Shape;48;p1"/>
          <p:cNvSpPr/>
          <p:nvPr/>
        </p:nvSpPr>
        <p:spPr>
          <a:xfrm>
            <a:off x="3926431" y="3996837"/>
            <a:ext cx="913562" cy="475488"/>
          </a:xfrm>
          <a:prstGeom prst="rect">
            <a:avLst/>
          </a:prstGeom>
          <a:solidFill>
            <a:srgbClr val="245F80"/>
          </a:solidFill>
          <a:ln cap="flat" cmpd="sng" w="9525">
            <a:solidFill>
              <a:srgbClr val="CAD6DD"/>
            </a:solidFill>
            <a:prstDash val="solid"/>
            <a:round/>
            <a:headEnd len="sm" w="sm" type="none"/>
            <a:tailEnd len="sm" w="sm" type="none"/>
          </a:ln>
        </p:spPr>
        <p:txBody>
          <a:bodyPr anchorCtr="0" anchor="ctr" bIns="500" lIns="500" spcFirstLastPara="1" rIns="500" wrap="square" tIns="500">
            <a:normAutofit/>
          </a:bodyPr>
          <a:lstStyle/>
          <a:p>
            <a:pPr indent="0" lvl="0" marL="0" marR="0" rtl="0" algn="ctr">
              <a:lnSpc>
                <a:spcPct val="100000"/>
              </a:lnSpc>
              <a:spcBef>
                <a:spcPts val="0"/>
              </a:spcBef>
              <a:spcAft>
                <a:spcPts val="0"/>
              </a:spcAft>
              <a:buClr>
                <a:srgbClr val="FFFFFF"/>
              </a:buClr>
              <a:buSzPts val="1020"/>
              <a:buFont typeface="Arial"/>
              <a:buNone/>
            </a:pPr>
            <a:r>
              <a:rPr b="1" i="0" lang="en-US" sz="1020" u="none" cap="none" strike="noStrike">
                <a:solidFill>
                  <a:srgbClr val="FFFFFF"/>
                </a:solidFill>
                <a:latin typeface="Arial"/>
                <a:ea typeface="Arial"/>
                <a:cs typeface="Arial"/>
                <a:sym typeface="Arial"/>
              </a:rPr>
              <a:t>Quy cách</a:t>
            </a:r>
            <a:endParaRPr b="0" i="0" sz="102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020"/>
              <a:buFont typeface="Arial"/>
              <a:buNone/>
            </a:pPr>
            <a:r>
              <a:rPr b="1" i="0" lang="en-US" sz="1020" u="none" cap="none" strike="noStrike">
                <a:solidFill>
                  <a:srgbClr val="FFFFFF"/>
                </a:solidFill>
                <a:latin typeface="Arial"/>
                <a:ea typeface="Arial"/>
                <a:cs typeface="Arial"/>
                <a:sym typeface="Arial"/>
              </a:rPr>
              <a:t>(kg/bao)</a:t>
            </a:r>
            <a:endParaRPr b="0" i="0" sz="1020" u="none" cap="none" strike="noStrike">
              <a:solidFill>
                <a:schemeClr val="dk1"/>
              </a:solidFill>
              <a:latin typeface="Arial"/>
              <a:ea typeface="Arial"/>
              <a:cs typeface="Arial"/>
              <a:sym typeface="Arial"/>
            </a:endParaRPr>
          </a:p>
        </p:txBody>
      </p:sp>
      <p:sp>
        <p:nvSpPr>
          <p:cNvPr id="49" name="Google Shape;49;p1"/>
          <p:cNvSpPr/>
          <p:nvPr/>
        </p:nvSpPr>
        <p:spPr>
          <a:xfrm>
            <a:off x="3926431" y="4472325"/>
            <a:ext cx="913562" cy="420624"/>
          </a:xfrm>
          <a:prstGeom prst="rect">
            <a:avLst/>
          </a:prstGeom>
          <a:solidFill>
            <a:srgbClr val="F8FBFC"/>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Clr>
                <a:srgbClr val="25313C"/>
              </a:buClr>
              <a:buSzPts val="1040"/>
              <a:buFont typeface="Arial"/>
              <a:buNone/>
            </a:pPr>
            <a:r>
              <a:rPr b="1" i="0" lang="en-US" sz="1040" u="none" cap="none" strike="noStrike">
                <a:solidFill>
                  <a:srgbClr val="25313C"/>
                </a:solidFill>
                <a:latin typeface="Arial"/>
                <a:ea typeface="Arial"/>
                <a:cs typeface="Arial"/>
                <a:sym typeface="Arial"/>
              </a:rPr>
              <a:t>25</a:t>
            </a:r>
            <a:endParaRPr b="1" i="0" sz="1040" u="none" cap="none" strike="noStrike">
              <a:solidFill>
                <a:schemeClr val="dk1"/>
              </a:solidFill>
              <a:latin typeface="Arial"/>
              <a:ea typeface="Arial"/>
              <a:cs typeface="Arial"/>
              <a:sym typeface="Arial"/>
            </a:endParaRPr>
          </a:p>
        </p:txBody>
      </p:sp>
      <p:sp>
        <p:nvSpPr>
          <p:cNvPr id="50" name="Google Shape;50;p1"/>
          <p:cNvSpPr/>
          <p:nvPr/>
        </p:nvSpPr>
        <p:spPr>
          <a:xfrm>
            <a:off x="3926431" y="4892949"/>
            <a:ext cx="913616" cy="420600"/>
          </a:xfrm>
          <a:prstGeom prst="rect">
            <a:avLst/>
          </a:prstGeom>
          <a:solidFill>
            <a:srgbClr val="EDF5F7"/>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None/>
            </a:pPr>
            <a:r>
              <a:rPr b="1" i="0" lang="en-US" sz="1040" u="none" cap="none" strike="noStrike">
                <a:solidFill>
                  <a:srgbClr val="25313C"/>
                </a:solidFill>
                <a:latin typeface="Arial"/>
                <a:ea typeface="Arial"/>
                <a:cs typeface="Arial"/>
                <a:sym typeface="Arial"/>
              </a:rPr>
              <a:t>25</a:t>
            </a:r>
            <a:endParaRPr b="1" i="0" sz="1040" u="none" cap="none" strike="noStrike">
              <a:solidFill>
                <a:schemeClr val="dk1"/>
              </a:solidFill>
              <a:latin typeface="Arial"/>
              <a:ea typeface="Arial"/>
              <a:cs typeface="Arial"/>
              <a:sym typeface="Arial"/>
            </a:endParaRPr>
          </a:p>
        </p:txBody>
      </p:sp>
      <p:sp>
        <p:nvSpPr>
          <p:cNvPr id="51" name="Google Shape;51;p1"/>
          <p:cNvSpPr/>
          <p:nvPr/>
        </p:nvSpPr>
        <p:spPr>
          <a:xfrm>
            <a:off x="3926431" y="5313573"/>
            <a:ext cx="913562" cy="420624"/>
          </a:xfrm>
          <a:prstGeom prst="rect">
            <a:avLst/>
          </a:prstGeom>
          <a:solidFill>
            <a:srgbClr val="F8FBFC"/>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None/>
            </a:pPr>
            <a:r>
              <a:rPr b="1" i="0" lang="en-US" sz="1040" u="none" cap="none" strike="noStrike">
                <a:solidFill>
                  <a:srgbClr val="25313C"/>
                </a:solidFill>
                <a:latin typeface="Arial"/>
                <a:ea typeface="Arial"/>
                <a:cs typeface="Arial"/>
                <a:sym typeface="Arial"/>
              </a:rPr>
              <a:t/>
            </a:r>
            <a:endParaRPr b="1" i="0" sz="104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2026-03-15T16:30:29Z</dcterms:created>
  <dc:creator>OpenAI</dc:creator>
</cp:coreProperties>
</file>